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NOTES: Welcome students warmly. Introduce Bluesky Educational Consults. Set expectations for interactive participation.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NOTES (5 mins): Warm welcome. Go over learning culture. Emphasise that wrong answers are stepping stones to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NOTES (8 mins): Ask 3-4 students to share their ideas. Write key words (e.g. eye contact, vocabulary, confidence) on the 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NOTES (3 mins): Read through the objectives. Emphasise that today builds the foundation for all Key Stage 3 English.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NOTES (2 mins): Explain that students should aim for Gold today. Self-assessment will happen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NOTES (5 mins): Set a timer for 2 mins. Rapid fire answers from students. Reveal examples on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NOTES (7 mins): Highlight that both sides depend on each other. You need Language mechanics to write and interpret Literature.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NOTES (5 mins): Explain Receptive (taking in information) vs Productive (producing information) skills.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NOTES (5 mins): Emphasise real-world relevance. Ask students: 'What job does NOT require communication?' (Spoiler: none!)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NOTES (6 mins): Have students copy these definitions into their exercise books. These 5 words will be used every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NOTES (5 mins): Read aloud once for fluency and expression. Then ask a confident student to read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NOTES (5 mins): Model how good readers think while reading. Demonstrate annotating on a whiteboard.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NOTES (8 mins): Solicit answers from volunteers. Click to reveal/highlight answers on the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NOTES (8 mins): Explain difference: Literal = right there on page. Inferential = reader detective work using clues.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NOTES (5 mins): Have students call out the matching numbers and letters before revealing final matches.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NOTES (6 mins): Enforce strict timings with a visual timer on screen. Circulate room during Pair phase.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NOTES (10 mins): Silent writing time. Walk around room to offer support to lower-attaining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NOTES (8 mins): Fun activity to gauge initial writing skills. Invite 2-3 students to read theirs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NOTES (5 mins): Go through common errors seen early in KS3. Establish high standards for sentence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NOTES (4 mins): Remind students that English isn't just an exam subject—it's a life superpower.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NOTES (4 mins): Rapid recap. Have individual students summarize one point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NOTES (5 mins): Students complete exit slip on sticky notes or notebook. Collect on way out of classroom.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NOTES: Remind students of the due date. Check homework planner logging.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NOTES (2 mins): Build anticipation for next lesson. Encourage students to come prepared.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NOTES: Praise student effort. Wish them a great day and dismiss the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4EA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371600"/>
            <a:ext cx="137160" cy="41148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B301"/>
                </a:solidFill>
                <a:latin typeface="Segoe UI"/>
              </a:defRPr>
            </a:pPr>
            <a:r>
              <a:t>BLUESKY EDUCATIONAL CONSULTS</a:t>
            </a:r>
          </a:p>
          <a:p>
            <a:pPr>
              <a:spcBef>
                <a:spcPts val="2000"/>
              </a:spcBef>
              <a:defRPr sz="4000" b="1">
                <a:solidFill>
                  <a:srgbClr val="FFFFFF"/>
                </a:solidFill>
                <a:latin typeface="Segoe UI"/>
              </a:defRPr>
            </a:pPr>
            <a:r>
              <a:t>Introduction to English Skills</a:t>
            </a:r>
          </a:p>
          <a:p>
            <a:pPr>
              <a:spcBef>
                <a:spcPts val="1000"/>
              </a:spcBef>
              <a:defRPr sz="2000">
                <a:solidFill>
                  <a:srgbClr val="E2E8F0"/>
                </a:solidFill>
                <a:latin typeface="Segoe UI"/>
              </a:defRPr>
            </a:pPr>
            <a:r>
              <a:t>Understanding Language, Literature &amp; Effective Communication</a:t>
            </a:r>
          </a:p>
          <a:p>
            <a:pPr>
              <a:spcBef>
                <a:spcPts val="4000"/>
              </a:spcBef>
              <a:defRPr sz="1400">
                <a:solidFill>
                  <a:srgbClr val="F5B301"/>
                </a:solidFill>
                <a:latin typeface="Segoe UI"/>
              </a:defRPr>
            </a:pPr>
            <a:r>
              <a:t>Year 7 English • Key Stage 3 • Week 1, Lesson 1 (90 Minutes)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B301"/>
                </a:solidFill>
                <a:latin typeface="Segoe UI"/>
              </a:defRPr>
            </a:pPr>
            <a:r>
              <a:t>YEAR 7 ENGLISH • KEY STAGE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4EA3"/>
                </a:solidFill>
                <a:latin typeface="Segoe UI"/>
              </a:defRPr>
            </a:pPr>
            <a:r>
              <a:t>Welcome to Key Stage 3 English!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BLUESKY EDUCATIONAL CONSULTS | Learning Beyond Borders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68580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6309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4EA3"/>
                </a:solidFill>
              </a:defRPr>
            </a:pPr>
            <a:r>
              <a:t>A New Chapter Begins</a:t>
            </a:r>
          </a:p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• Welcome to your Secondary English journey!</a:t>
            </a:r>
          </a:p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• In Key Stage 3, you will explore powerful stories, debate big ideas, and master the art of expression.</a:t>
            </a:r>
          </a:p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• Our classroom is a safe space to test ideas, make mistakes, and grow as confident communicators.</a:t>
            </a:r>
          </a:p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• Get ready to read critically, write creatively, and speak persuasively.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463040"/>
            <a:ext cx="3566160" cy="4572000"/>
          </a:xfrm>
          <a:prstGeom prst="roundRect">
            <a:avLst/>
          </a:prstGeom>
          <a:solidFill>
            <a:srgbClr val="0A4EA3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1645920"/>
            <a:ext cx="3200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B301"/>
                </a:solidFill>
              </a:defRPr>
            </a:pPr>
            <a:r>
              <a:t>Classroom Values</a:t>
            </a:r>
          </a:p>
          <a:p>
            <a:pPr>
              <a:spcBef>
                <a:spcPts val="1600"/>
              </a:spcBef>
              <a:defRPr sz="1400">
                <a:solidFill>
                  <a:srgbClr val="FFFFFF"/>
                </a:solidFill>
              </a:defRPr>
            </a:pPr>
            <a:r>
              <a:t>📖 Active Listening</a:t>
            </a:r>
          </a:p>
          <a:p>
            <a:pPr>
              <a:spcBef>
                <a:spcPts val="1600"/>
              </a:spcBef>
              <a:defRPr sz="1400">
                <a:solidFill>
                  <a:srgbClr val="FFFFFF"/>
                </a:solidFill>
              </a:defRPr>
            </a:pPr>
            <a:r>
              <a:t>🙋 Active Participation</a:t>
            </a:r>
          </a:p>
          <a:p>
            <a:pPr>
              <a:spcBef>
                <a:spcPts val="1600"/>
              </a:spcBef>
              <a:defRPr sz="1400">
                <a:solidFill>
                  <a:srgbClr val="FFFFFF"/>
                </a:solidFill>
              </a:defRPr>
            </a:pPr>
            <a:r>
              <a:t>🤝 Mutual Respect</a:t>
            </a:r>
          </a:p>
          <a:p>
            <a:pPr>
              <a:spcBef>
                <a:spcPts val="1600"/>
              </a:spcBef>
              <a:defRPr sz="1400">
                <a:solidFill>
                  <a:srgbClr val="FFFFFF"/>
                </a:solidFill>
              </a:defRPr>
            </a:pPr>
            <a:r>
              <a:t>💡 Creative Curiosity</a:t>
            </a:r>
          </a:p>
          <a:p>
            <a:pPr>
              <a:spcBef>
                <a:spcPts val="1600"/>
              </a:spcBef>
              <a:defRPr sz="1400">
                <a:solidFill>
                  <a:srgbClr val="FFFFFF"/>
                </a:solidFill>
              </a:defRPr>
            </a:pPr>
            <a:r>
              <a:t>✏️ High Endeavour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B301"/>
                </a:solidFill>
                <a:latin typeface="Segoe UI"/>
              </a:defRPr>
            </a:pPr>
            <a:r>
              <a:t>YEAR 7 ENGLISH • KEY STAGE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4EA3"/>
                </a:solidFill>
                <a:latin typeface="Segoe UI"/>
              </a:defRPr>
            </a:pPr>
            <a:r>
              <a:t>Ice Breaker: What Makes a Good Communicator?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BLUESKY EDUCATIONAL CONSULTS | Learning Beyond Borders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728655" cy="1645920"/>
          </a:xfrm>
          <a:prstGeom prst="roundRect">
            <a:avLst/>
          </a:prstGeom>
          <a:solidFill>
            <a:srgbClr val="0A4EA3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💬 Think of someone you love listening to (a YouTuber, teacher, author, or friend).</a:t>
            </a:r>
            <a:br/>
            <a:r>
              <a:t>What makes them so effective when they communicate?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91840"/>
            <a:ext cx="3413455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304769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A4EA3"/>
                </a:solidFill>
              </a:defRPr>
            </a:pPr>
            <a:r>
              <a:t>1. Tone &amp; Voice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Is it how they sound, the words they choose, or their body language?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3291840"/>
            <a:ext cx="3413455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3474720"/>
            <a:ext cx="304769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A4EA3"/>
                </a:solidFill>
              </a:defRPr>
            </a:pPr>
            <a:r>
              <a:t>2. Clarity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Do they make complex ideas easy to understand?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3291840"/>
            <a:ext cx="3413455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3474720"/>
            <a:ext cx="304769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A4EA3"/>
                </a:solidFill>
              </a:defRPr>
            </a:pPr>
            <a:r>
              <a:t>3. Engagement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How do they keep your attention from start to finish?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B301"/>
                </a:solidFill>
                <a:latin typeface="Segoe UI"/>
              </a:defRPr>
            </a:pPr>
            <a:r>
              <a:t>YEAR 7 ENGLISH • KEY STAGE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4EA3"/>
                </a:solidFill>
                <a:latin typeface="Segoe UI"/>
              </a:defRPr>
            </a:pPr>
            <a:r>
              <a:t>Learning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BLUESKY EDUCATIONAL CONSULTS | Learning Beyond Borders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731520" cy="731520"/>
          </a:xfrm>
          <a:prstGeom prst="roundRect">
            <a:avLst/>
          </a:prstGeom>
          <a:solidFill>
            <a:srgbClr val="0A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B301"/>
                </a:solidFill>
              </a:defRPr>
            </a:pPr>
            <a: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45920" y="1463040"/>
            <a:ext cx="9814255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150876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4EA3"/>
                </a:solidFill>
              </a:defRPr>
            </a:pPr>
            <a:r>
              <a:t>Distinguish Core Domains — </a:t>
            </a:r>
            <a:r>
              <a:rPr b="0">
                <a:solidFill>
                  <a:srgbClr val="1E293B"/>
                </a:solidFill>
              </a:rPr>
              <a:t>Explain clearly what English Language and English Literature are and how they connect.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77440"/>
            <a:ext cx="731520" cy="731520"/>
          </a:xfrm>
          <a:prstGeom prst="roundRect">
            <a:avLst/>
          </a:prstGeom>
          <a:solidFill>
            <a:srgbClr val="0A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B301"/>
                </a:solidFill>
              </a:defRPr>
            </a:pPr>
            <a: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45920" y="2377440"/>
            <a:ext cx="9814255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242316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4EA3"/>
                </a:solidFill>
              </a:defRPr>
            </a:pPr>
            <a:r>
              <a:t>Identify the Four Pillars — </a:t>
            </a:r>
            <a:r>
              <a:rPr b="0">
                <a:solidFill>
                  <a:srgbClr val="1E293B"/>
                </a:solidFill>
              </a:rPr>
              <a:t>Recognise and apply the four key language skills: Reading, Writing, Speaking, and Listening.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91840"/>
            <a:ext cx="731520" cy="731520"/>
          </a:xfrm>
          <a:prstGeom prst="roundRect">
            <a:avLst/>
          </a:prstGeom>
          <a:solidFill>
            <a:srgbClr val="0A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B301"/>
                </a:solidFill>
              </a:defRPr>
            </a:pPr>
            <a:r>
              <a:t>03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45920" y="3291840"/>
            <a:ext cx="9814255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0" y="333756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4EA3"/>
                </a:solidFill>
              </a:defRPr>
            </a:pPr>
            <a:r>
              <a:t>Understand Communication — </a:t>
            </a:r>
            <a:r>
              <a:rPr b="0">
                <a:solidFill>
                  <a:srgbClr val="1E293B"/>
                </a:solidFill>
              </a:rPr>
              <a:t>Recognise why effective communication is vital in education, careers, and everyday life.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206240"/>
            <a:ext cx="731520" cy="731520"/>
          </a:xfrm>
          <a:prstGeom prst="roundRect">
            <a:avLst/>
          </a:prstGeom>
          <a:solidFill>
            <a:srgbClr val="0A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B301"/>
                </a:solidFill>
              </a:defRPr>
            </a:pPr>
            <a:r>
              <a:t>04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45920" y="4206240"/>
            <a:ext cx="9814255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0" y="425196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4EA3"/>
                </a:solidFill>
              </a:defRPr>
            </a:pPr>
            <a:r>
              <a:t>Master Key Vocabulary — </a:t>
            </a:r>
            <a:r>
              <a:rPr b="0">
                <a:solidFill>
                  <a:srgbClr val="1E293B"/>
                </a:solidFill>
              </a:rPr>
              <a:t>Use subject-specific terminology (Author, Audience, Purpose, Tone, Genre) with confidence.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120640"/>
            <a:ext cx="731520" cy="731520"/>
          </a:xfrm>
          <a:prstGeom prst="roundRect">
            <a:avLst/>
          </a:prstGeom>
          <a:solidFill>
            <a:srgbClr val="0A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B301"/>
                </a:solidFill>
              </a:defRPr>
            </a:pPr>
            <a:r>
              <a:t>05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645920" y="5120640"/>
            <a:ext cx="9814255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28800" y="516636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4EA3"/>
                </a:solidFill>
              </a:defRPr>
            </a:pPr>
            <a:r>
              <a:t>Analyse Text for Meaning — </a:t>
            </a:r>
            <a:r>
              <a:rPr b="0">
                <a:solidFill>
                  <a:srgbClr val="1E293B"/>
                </a:solidFill>
              </a:rPr>
              <a:t>Read a short literary passage and extract both literal and inferential meaning using evidence.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B301"/>
                </a:solidFill>
                <a:latin typeface="Segoe UI"/>
              </a:defRPr>
            </a:pPr>
            <a:r>
              <a:t>YEAR 7 ENGLISH • KEY STAGE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4EA3"/>
                </a:solidFill>
                <a:latin typeface="Segoe UI"/>
              </a:defRPr>
            </a:pPr>
            <a:r>
              <a:t>Success Criteria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BLUESKY EDUCATIONAL CONSULTS | Learning Beyond Borders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728655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82880" cy="1280160"/>
          </a:xfrm>
          <a:prstGeom prst="rect">
            <a:avLst/>
          </a:prstGeom>
          <a:solidFill>
            <a:srgbClr val="0A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0020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A4EA3"/>
                </a:solidFill>
              </a:defRPr>
            </a:pPr>
            <a:r>
              <a:t>✓ Bronze Level</a:t>
            </a:r>
          </a:p>
          <a:p>
            <a:pPr>
              <a:spcBef>
                <a:spcPts val="600"/>
              </a:spcBef>
              <a:defRPr sz="1400">
                <a:solidFill>
                  <a:srgbClr val="1E293B"/>
                </a:solidFill>
              </a:defRPr>
            </a:pPr>
            <a:r>
              <a:t>I can state the difference between English Language and English Literature, and list the four skills.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17520"/>
            <a:ext cx="10728655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017520"/>
            <a:ext cx="182880" cy="1280160"/>
          </a:xfrm>
          <a:prstGeom prst="rect">
            <a:avLst/>
          </a:prstGeom>
          <a:solidFill>
            <a:srgbClr val="0A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15468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A4EA3"/>
                </a:solidFill>
              </a:defRPr>
            </a:pPr>
            <a:r>
              <a:t>✓ Silver Level</a:t>
            </a:r>
          </a:p>
          <a:p>
            <a:pPr>
              <a:spcBef>
                <a:spcPts val="600"/>
              </a:spcBef>
              <a:defRPr sz="1400">
                <a:solidFill>
                  <a:srgbClr val="1E293B"/>
                </a:solidFill>
              </a:defRPr>
            </a:pPr>
            <a:r>
              <a:t>I can define key vocabulary (Audience, Purpose, Tone) and identify them in a short text.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572000"/>
            <a:ext cx="10728655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4572000"/>
            <a:ext cx="182880" cy="128016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70916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B301"/>
                </a:solidFill>
              </a:defRPr>
            </a:pPr>
            <a:r>
              <a:t>✓ Gold Level</a:t>
            </a:r>
          </a:p>
          <a:p>
            <a:pPr>
              <a:spcBef>
                <a:spcPts val="600"/>
              </a:spcBef>
              <a:defRPr sz="1400">
                <a:solidFill>
                  <a:srgbClr val="1E293B"/>
                </a:solidFill>
              </a:defRPr>
            </a:pPr>
            <a:r>
              <a:t>I can explain the author's purpose using explicit evidence and make simple inferences from text.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B301"/>
                </a:solidFill>
                <a:latin typeface="Segoe UI"/>
              </a:defRPr>
            </a:pPr>
            <a:r>
              <a:t>STARTER ACTIVITY • 5 MINS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4EA3"/>
                </a:solidFill>
                <a:latin typeface="Segoe UI"/>
              </a:defRPr>
            </a:pPr>
            <a:r>
              <a:t>Warm-up: Word Association Challenge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BLUESKY EDUCATIONAL CONSULTS | Learning Beyond Borders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728655" cy="822960"/>
          </a:xfrm>
          <a:prstGeom prst="roundRect">
            <a:avLst/>
          </a:prstGeom>
          <a:solidFill>
            <a:srgbClr val="0A4EA3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103628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⚡ Challenge: You have 2 minutes! Write down as many words as you associate with each pillar below: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2499055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560320"/>
            <a:ext cx="22247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A4EA3"/>
                </a:solidFill>
              </a:defRPr>
            </a:pPr>
            <a:r>
              <a:t>📖 READING</a:t>
            </a:r>
          </a:p>
          <a:p>
            <a:pPr>
              <a:spcBef>
                <a:spcPts val="1000"/>
              </a:spcBef>
              <a:defRPr sz="1100" b="1">
                <a:solidFill>
                  <a:srgbClr val="F5B301"/>
                </a:solidFill>
              </a:defRPr>
            </a:pPr>
            <a:r>
              <a:t>Examples: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Books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Decipher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Analyze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Comprehension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Library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Context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377440"/>
            <a:ext cx="2499055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2560320"/>
            <a:ext cx="22247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A4EA3"/>
                </a:solidFill>
              </a:defRPr>
            </a:pPr>
            <a:r>
              <a:t>✍️ WRITING</a:t>
            </a:r>
          </a:p>
          <a:p>
            <a:pPr>
              <a:spcBef>
                <a:spcPts val="1000"/>
              </a:spcBef>
              <a:defRPr sz="1100" b="1">
                <a:solidFill>
                  <a:srgbClr val="F5B301"/>
                </a:solidFill>
              </a:defRPr>
            </a:pPr>
            <a:r>
              <a:t>Examples: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Grammar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Punctuation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Essays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Creativity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Vocabulary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Draft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377440"/>
            <a:ext cx="2499055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2560320"/>
            <a:ext cx="22247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A4EA3"/>
                </a:solidFill>
              </a:defRPr>
            </a:pPr>
            <a:r>
              <a:t>🗣️ SPEAKING</a:t>
            </a:r>
          </a:p>
          <a:p>
            <a:pPr>
              <a:spcBef>
                <a:spcPts val="1000"/>
              </a:spcBef>
              <a:defRPr sz="1100" b="1">
                <a:solidFill>
                  <a:srgbClr val="F5B301"/>
                </a:solidFill>
              </a:defRPr>
            </a:pPr>
            <a:r>
              <a:t>Examples: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Debate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Presentation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Tone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Pitch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Expression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Dialogue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2377440"/>
            <a:ext cx="2499055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2560320"/>
            <a:ext cx="22247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A4EA3"/>
                </a:solidFill>
              </a:defRPr>
            </a:pPr>
            <a:r>
              <a:t>👂 LISTENING</a:t>
            </a:r>
          </a:p>
          <a:p>
            <a:pPr>
              <a:spcBef>
                <a:spcPts val="1000"/>
              </a:spcBef>
              <a:defRPr sz="1100" b="1">
                <a:solidFill>
                  <a:srgbClr val="F5B301"/>
                </a:solidFill>
              </a:defRPr>
            </a:pPr>
            <a:r>
              <a:t>Examples: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Attention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Empathy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Understanding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Notes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Active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Focus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B301"/>
                </a:solidFill>
                <a:latin typeface="Segoe UI"/>
              </a:defRPr>
            </a:pPr>
            <a:r>
              <a:t>YEAR 7 ENGLISH • KEY STAGE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4EA3"/>
                </a:solidFill>
                <a:latin typeface="Segoe UI"/>
              </a:defRPr>
            </a:pPr>
            <a:r>
              <a:t>What is English? Language vs. Literature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BLUESKY EDUCATIONAL CONSULTS | Learning Beyond Borders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4EA3"/>
                </a:solidFill>
              </a:defRPr>
            </a:pPr>
            <a:r>
              <a:t>🔤 English Language</a:t>
            </a:r>
          </a:p>
          <a:p>
            <a:pPr>
              <a:spcBef>
                <a:spcPts val="400"/>
              </a:spcBef>
              <a:defRPr sz="1200" b="1">
                <a:solidFill>
                  <a:srgbClr val="F5B301"/>
                </a:solidFill>
              </a:defRPr>
            </a:pPr>
            <a:r>
              <a:t>The Tool of Communication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Focuses on HOW words work together.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Includes grammar, punctuation, vocabulary, and sentence structures.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Examines how language changes according to audience and purpose.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Teaches non-fiction writing: articles, speeches, letters, and reports.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4EA3"/>
                </a:solidFill>
              </a:defRPr>
            </a:pPr>
            <a:r>
              <a:t>📚 English Literature</a:t>
            </a:r>
          </a:p>
          <a:p>
            <a:pPr>
              <a:spcBef>
                <a:spcPts val="400"/>
              </a:spcBef>
              <a:defRPr sz="1200" b="1">
                <a:solidFill>
                  <a:srgbClr val="F5B301"/>
                </a:solidFill>
              </a:defRPr>
            </a:pPr>
            <a:r>
              <a:t>The Study of Human Experience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Focuses on WHAT writers express and WHY.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Includes novels, plays, poetry, and historical texts.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Explores themes like love, power, conflict, and identity.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Teaches analytical thinking and critical interpretation.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B301"/>
                </a:solidFill>
                <a:latin typeface="Segoe UI"/>
              </a:defRPr>
            </a:pPr>
            <a:r>
              <a:t>YEAR 7 ENGLISH • KEY STAGE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4EA3"/>
                </a:solidFill>
                <a:latin typeface="Segoe UI"/>
              </a:defRPr>
            </a:pPr>
            <a:r>
              <a:t>The Four Language Skills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BLUESKY EDUCATIONAL CONSULTS | Learning Beyond Borders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42255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87649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A4EA3"/>
                </a:solidFill>
              </a:defRPr>
            </a:pPr>
            <a:r>
              <a:t>📖 READING</a:t>
            </a:r>
          </a:p>
          <a:p>
            <a:pPr>
              <a:defRPr sz="1000" b="1">
                <a:solidFill>
                  <a:srgbClr val="64748B"/>
                </a:solidFill>
              </a:defRPr>
            </a:pPr>
            <a:r>
              <a:t>[Receptive Skill]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Decoding symbols, interpreting meaning, analyzing techniques, and building comprehension.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42255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487649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A4EA3"/>
                </a:solidFill>
              </a:defRPr>
            </a:pPr>
            <a:r>
              <a:t>✍️ WRITING</a:t>
            </a:r>
          </a:p>
          <a:p>
            <a:pPr>
              <a:defRPr sz="1000" b="1">
                <a:solidFill>
                  <a:srgbClr val="64748B"/>
                </a:solidFill>
              </a:defRPr>
            </a:pPr>
            <a:r>
              <a:t>[Productive Skill]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Structuring thoughts, selecting vocabulary, applying grammar, and crafting narratives.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5242255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23360"/>
            <a:ext cx="487649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B301"/>
                </a:solidFill>
              </a:defRPr>
            </a:pPr>
            <a:r>
              <a:t>🗣️ SPEAKING</a:t>
            </a:r>
          </a:p>
          <a:p>
            <a:pPr>
              <a:defRPr sz="1000" b="1">
                <a:solidFill>
                  <a:srgbClr val="64748B"/>
                </a:solidFill>
              </a:defRPr>
            </a:pPr>
            <a:r>
              <a:t>[Productive Skill]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Articulating ideas, adapting tone, presenting arguments, and performing drama.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840480"/>
            <a:ext cx="5242255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023360"/>
            <a:ext cx="487649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B301"/>
                </a:solidFill>
              </a:defRPr>
            </a:pPr>
            <a:r>
              <a:t>👂 LISTENING</a:t>
            </a:r>
          </a:p>
          <a:p>
            <a:pPr>
              <a:defRPr sz="1000" b="1">
                <a:solidFill>
                  <a:srgbClr val="64748B"/>
                </a:solidFill>
              </a:defRPr>
            </a:pPr>
            <a:r>
              <a:t>[Receptive Skill]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Processing spoken words, active listening, evaluating speeches, and understanding intent.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B301"/>
                </a:solidFill>
                <a:latin typeface="Segoe UI"/>
              </a:defRPr>
            </a:pPr>
            <a:r>
              <a:t>YEAR 7 ENGLISH • KEY STAGE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4EA3"/>
                </a:solidFill>
                <a:latin typeface="Segoe UI"/>
              </a:defRPr>
            </a:pPr>
            <a:r>
              <a:t>Why English Matters Beyond the Classroom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BLUESKY EDUCATIONAL CONSULTS | Learning Beyond Borders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256032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2286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A4EA3"/>
                </a:solidFill>
              </a:defRPr>
            </a:pPr>
            <a:r>
              <a:t>🎓 Education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Mastering English unlocks all other subjects—from writing science reports to analyzing history source documents.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463040"/>
            <a:ext cx="256032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645920"/>
            <a:ext cx="2286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A4EA3"/>
                </a:solidFill>
              </a:defRPr>
            </a:pPr>
            <a:r>
              <a:t>💼 Careers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Employers consistently rank clear written and verbal communication as the #1 essential workplace skill.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463040"/>
            <a:ext cx="256032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45920"/>
            <a:ext cx="2286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A4EA3"/>
                </a:solidFill>
              </a:defRPr>
            </a:pPr>
            <a:r>
              <a:t>🌐 Media Literacy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Helps you navigate social media, spot fake news, and evaluate bias in public information.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1463040"/>
            <a:ext cx="256032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1645920"/>
            <a:ext cx="2286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A4EA3"/>
                </a:solidFill>
              </a:defRPr>
            </a:pPr>
            <a:r>
              <a:t>🗣️ Everyday Life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Expressing your feelings clearly, resolving conflicts, and forming deep relationships require strong communication.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B301"/>
                </a:solidFill>
                <a:latin typeface="Segoe UI"/>
              </a:defRPr>
            </a:pPr>
            <a:r>
              <a:t>SUBJECT-SPECIFIC VOCABULARY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4EA3"/>
                </a:solidFill>
                <a:latin typeface="Segoe UI"/>
              </a:defRPr>
            </a:pPr>
            <a:r>
              <a:t>Building Vocabulary: Core English Toolkit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BLUESKY EDUCATIONAL CONSULTS | Learning Beyond Borders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2286000" cy="731520"/>
          </a:xfrm>
          <a:prstGeom prst="roundRect">
            <a:avLst/>
          </a:prstGeom>
          <a:solidFill>
            <a:srgbClr val="0A4EA3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B301"/>
                </a:solidFill>
              </a:defRPr>
            </a:pPr>
            <a:r>
              <a:t>Author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0" y="1463040"/>
            <a:ext cx="8351215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600200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The writer of a text, story, or document.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377440"/>
            <a:ext cx="2286000" cy="731520"/>
          </a:xfrm>
          <a:prstGeom prst="roundRect">
            <a:avLst/>
          </a:prstGeom>
          <a:solidFill>
            <a:srgbClr val="0A4EA3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51460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B301"/>
                </a:solidFill>
              </a:defRPr>
            </a:pPr>
            <a:r>
              <a:t>Audience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08960" y="2377440"/>
            <a:ext cx="8351215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2514600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The intended reader, listener, or viewer.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291840"/>
            <a:ext cx="2286000" cy="731520"/>
          </a:xfrm>
          <a:prstGeom prst="roundRect">
            <a:avLst/>
          </a:prstGeom>
          <a:solidFill>
            <a:srgbClr val="0A4EA3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42900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B301"/>
                </a:solidFill>
              </a:defRPr>
            </a:pPr>
            <a:r>
              <a:t>Purpose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08960" y="3291840"/>
            <a:ext cx="8351215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1840" y="3429000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The reason a text was created (e.g. inform, persuade, entertain).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206240"/>
            <a:ext cx="2286000" cy="731520"/>
          </a:xfrm>
          <a:prstGeom prst="roundRect">
            <a:avLst/>
          </a:prstGeom>
          <a:solidFill>
            <a:srgbClr val="0A4EA3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34340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B301"/>
                </a:solidFill>
              </a:defRPr>
            </a:pPr>
            <a:r>
              <a:t>Genre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08960" y="4206240"/>
            <a:ext cx="8351215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4343400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The category or style of literature/media (e.g. Sci-Fi, Gothic, Poetry).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120640"/>
            <a:ext cx="2286000" cy="731520"/>
          </a:xfrm>
          <a:prstGeom prst="roundRect">
            <a:avLst/>
          </a:prstGeom>
          <a:solidFill>
            <a:srgbClr val="0A4EA3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25780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B301"/>
                </a:solidFill>
              </a:defRPr>
            </a:pPr>
            <a:r>
              <a:t>Tone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108960" y="5120640"/>
            <a:ext cx="8351215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91840" y="5257800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The mood or attitude expressed by the writer's words (e.g. mysterious, joyful).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B301"/>
                </a:solidFill>
                <a:latin typeface="Segoe UI"/>
              </a:defRPr>
            </a:pPr>
            <a:r>
              <a:t>TEXT ANALYSIS • 10 MINS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4EA3"/>
                </a:solidFill>
                <a:latin typeface="Segoe UI"/>
              </a:defRPr>
            </a:pPr>
            <a:r>
              <a:t>Reading Activity: The Discovery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BLUESKY EDUCATIONAL CONSULTS | Learning Beyond Borders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728655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1018001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64748B"/>
                </a:solidFill>
              </a:defRPr>
            </a:pPr>
            <a:r>
              <a:t>Excerpt from 'The Forgotten Library' by Maya Lin</a:t>
            </a:r>
          </a:p>
          <a:p>
            <a:pPr>
              <a:spcBef>
                <a:spcPts val="1400"/>
              </a:spcBef>
              <a:defRPr sz="1600">
                <a:solidFill>
                  <a:srgbClr val="1E293B"/>
                </a:solidFill>
              </a:defRPr>
            </a:pPr>
            <a:r>
              <a:t>The heavy wooden door groaned as Arthur pushed it open, revealing a cavernous room bathed in golden dust motes. Bookshelves reached up toward vaulted ceilings like ancient oak trees, their branches heavy with leather-bound volumes. A gentle smell of old paper and dried lavender hung in the still air. In the centre of the room stood a polished mahogany desk, and upon it lay a single brass key resting on an unopened letter. Arthur took a slow step forward, his heart hammering against his ribs like a trapped bird.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03520"/>
            <a:ext cx="10728655" cy="731520"/>
          </a:xfrm>
          <a:prstGeom prst="roundRect">
            <a:avLst/>
          </a:prstGeom>
          <a:solidFill>
            <a:srgbClr val="0A4EA3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39496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🔍 Task: Read the passage silently twice. Notice how the author creates atmosphere using sensory details.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B301"/>
                </a:solidFill>
                <a:latin typeface="Segoe UI"/>
              </a:defRPr>
            </a:pPr>
            <a:r>
              <a:t>I DO • ANNOTATING 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4EA3"/>
                </a:solidFill>
                <a:latin typeface="Segoe UI"/>
              </a:defRPr>
            </a:pPr>
            <a:r>
              <a:t>Teacher Modelling: Think Aloud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BLUESKY EDUCATIONAL CONSULTS | Learning Beyond Borders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B301"/>
                </a:solidFill>
              </a:defRPr>
            </a:pPr>
            <a:r>
              <a:t>Text Focus:</a:t>
            </a:r>
          </a:p>
          <a:p>
            <a:pPr>
              <a:spcBef>
                <a:spcPts val="1000"/>
              </a:spcBef>
              <a:defRPr sz="1800" b="1">
                <a:solidFill>
                  <a:srgbClr val="0A4EA3"/>
                </a:solidFill>
              </a:defRPr>
            </a:pPr>
            <a:r>
              <a:t>"...his heart hammering against his ribs like a trapped bird."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0A4EA3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B301"/>
                </a:solidFill>
              </a:defRPr>
            </a:pPr>
            <a:r>
              <a:t>🧠 Teacher's 'Think Aloud':</a:t>
            </a:r>
          </a:p>
          <a:p>
            <a:pPr>
              <a:spcBef>
                <a:spcPts val="1200"/>
              </a:spcBef>
              <a:defRPr sz="1300">
                <a:solidFill>
                  <a:srgbClr val="FFFFFF"/>
                </a:solidFill>
              </a:defRPr>
            </a:pPr>
            <a:r>
              <a:t>1. Identify Technique: 'like a trapped bird' is a Simile.</a:t>
            </a:r>
          </a:p>
          <a:p>
            <a:pPr>
              <a:spcBef>
                <a:spcPts val="1200"/>
              </a:spcBef>
              <a:defRPr sz="1300">
                <a:solidFill>
                  <a:srgbClr val="FFFFFF"/>
                </a:solidFill>
              </a:defRPr>
            </a:pPr>
            <a:r>
              <a:t>2. Analyze Imagery: A trapped bird flutters frantically and wants to escape.</a:t>
            </a:r>
          </a:p>
          <a:p>
            <a:pPr>
              <a:spcBef>
                <a:spcPts val="1200"/>
              </a:spcBef>
              <a:defRPr sz="1300">
                <a:solidFill>
                  <a:srgbClr val="FFFFFF"/>
                </a:solidFill>
              </a:defRPr>
            </a:pPr>
            <a:r>
              <a:t>3. Connect to Meaning: Arthur isn't just nervous; he feels overwhelmed and trapped by mystery.</a:t>
            </a:r>
          </a:p>
          <a:p>
            <a:pPr>
              <a:spcBef>
                <a:spcPts val="1200"/>
              </a:spcBef>
              <a:defRPr sz="1300">
                <a:solidFill>
                  <a:srgbClr val="FFFFFF"/>
                </a:solidFill>
              </a:defRPr>
            </a:pPr>
            <a:r>
              <a:t>4. Evaluate Atmosphere: The writer creates tension and suspense.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B301"/>
                </a:solidFill>
                <a:latin typeface="Segoe UI"/>
              </a:defRPr>
            </a:pPr>
            <a:r>
              <a:t>WE DO • GUIDED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4EA3"/>
                </a:solidFill>
                <a:latin typeface="Segoe UI"/>
              </a:defRPr>
            </a:pPr>
            <a:r>
              <a:t>Guided Reading: Let's Unpack Together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BLUESKY EDUCATIONAL CONSULTS | Learning Beyond Borders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728655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1036289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A4EA3"/>
                </a:solidFill>
              </a:defRPr>
            </a:pPr>
            <a:r>
              <a:t>Question 1: Sensory Language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Which two senses (sight, sound, smell, touch, taste) does the author appeal to in line 3?</a:t>
            </a:r>
          </a:p>
          <a:p>
            <a:pPr>
              <a:spcBef>
                <a:spcPts val="400"/>
              </a:spcBef>
              <a:defRPr sz="1200" b="1">
                <a:solidFill>
                  <a:srgbClr val="10B981"/>
                </a:solidFill>
              </a:defRPr>
            </a:pPr>
            <a:r>
              <a:t>💡 Answer: Smell ('old paper and dried lavender') and Sound ('door groaned').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017520"/>
            <a:ext cx="10728655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1036289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A4EA3"/>
                </a:solidFill>
              </a:defRPr>
            </a:pPr>
            <a:r>
              <a:t>Question 2: Figurative Language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What metaphor is used to describe the bookshelves in the room?</a:t>
            </a:r>
          </a:p>
          <a:p>
            <a:pPr>
              <a:spcBef>
                <a:spcPts val="400"/>
              </a:spcBef>
              <a:defRPr sz="1200" b="1">
                <a:solidFill>
                  <a:srgbClr val="10B981"/>
                </a:solidFill>
              </a:defRPr>
            </a:pPr>
            <a:r>
              <a:t>💡 Answer: They are compared to 'ancient oak trees' with branches heavy with books.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572000"/>
            <a:ext cx="10728655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663440"/>
            <a:ext cx="1036289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A4EA3"/>
                </a:solidFill>
              </a:defRPr>
            </a:pPr>
            <a:r>
              <a:t>Question 3: Mystery &amp; Suspense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Which object in the room signals to the reader that a story is about to begin?</a:t>
            </a:r>
          </a:p>
          <a:p>
            <a:pPr>
              <a:spcBef>
                <a:spcPts val="400"/>
              </a:spcBef>
              <a:defRPr sz="1200" b="1">
                <a:solidFill>
                  <a:srgbClr val="10B981"/>
                </a:solidFill>
              </a:defRPr>
            </a:pPr>
            <a:r>
              <a:t>💡 Answer: The brass key resting on the unopened letter.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B301"/>
                </a:solidFill>
                <a:latin typeface="Segoe UI"/>
              </a:defRPr>
            </a:pPr>
            <a:r>
              <a:t>YOU DO • CHECKING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4EA3"/>
                </a:solidFill>
                <a:latin typeface="Segoe UI"/>
              </a:defRPr>
            </a:pPr>
            <a:r>
              <a:t>Comprehension Challenge: Literal vs. Inferential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BLUESKY EDUCATIONAL CONSULTS | Learning Beyond Borders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A4EA3"/>
                </a:solidFill>
              </a:defRPr>
            </a:pPr>
            <a:r>
              <a:t>📍 Literal Questions (In the text)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1. What kind of door did Arthur push open?</a:t>
            </a:r>
            <a:br/>
            <a:r>
              <a:t>   → A heavy wooden door.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2. What object was sitting on top of the mahogany desk?</a:t>
            </a:r>
            <a:br/>
            <a:r>
              <a:t>   → A single brass key and an unopened letter.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A4EA3"/>
                </a:solidFill>
              </a:defRPr>
            </a:pPr>
            <a:r>
              <a:t>🔍 Inferential Questions (Read between lines)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3. Has anyone been in this library recently? How do you know?</a:t>
            </a:r>
            <a:br/>
            <a:r>
              <a:t>   → No. The presence of 'golden dust motes' and 'still air' suggests it was untouched.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4. How does Arthur feel about being in the library?</a:t>
            </a:r>
            <a:br/>
            <a:r>
              <a:t>   → He feels both awed and terrified ('heart hammering').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B301"/>
                </a:solidFill>
                <a:latin typeface="Segoe UI"/>
              </a:defRPr>
            </a:pPr>
            <a:r>
              <a:t>INTERACTIVE ACTIVITY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4EA3"/>
                </a:solidFill>
                <a:latin typeface="Segoe UI"/>
              </a:defRPr>
            </a:pPr>
            <a:r>
              <a:t>Vocabulary Matching Challenge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BLUESKY EDUCATIONAL CONSULTS | Learning Beyond Borders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657600" cy="4572000"/>
          </a:xfrm>
          <a:prstGeom prst="roundRect">
            <a:avLst/>
          </a:prstGeom>
          <a:solidFill>
            <a:srgbClr val="0A4EA3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3291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B301"/>
                </a:solidFill>
              </a:defRPr>
            </a:pPr>
            <a:r>
              <a:t>TERMS</a:t>
            </a:r>
          </a:p>
          <a:p>
            <a:pPr>
              <a:spcBef>
                <a:spcPts val="2000"/>
              </a:spcBef>
              <a:defRPr sz="1500" b="1">
                <a:solidFill>
                  <a:srgbClr val="FFFFFF"/>
                </a:solidFill>
              </a:defRPr>
            </a:pPr>
            <a:r>
              <a:t>1. Cavernous</a:t>
            </a:r>
          </a:p>
          <a:p>
            <a:pPr>
              <a:spcBef>
                <a:spcPts val="2000"/>
              </a:spcBef>
              <a:defRPr sz="1500" b="1">
                <a:solidFill>
                  <a:srgbClr val="FFFFFF"/>
                </a:solidFill>
              </a:defRPr>
            </a:pPr>
            <a:r>
              <a:t>2. Vaulted</a:t>
            </a:r>
          </a:p>
          <a:p>
            <a:pPr>
              <a:spcBef>
                <a:spcPts val="2000"/>
              </a:spcBef>
              <a:defRPr sz="1500" b="1">
                <a:solidFill>
                  <a:srgbClr val="FFFFFF"/>
                </a:solidFill>
              </a:defRPr>
            </a:pPr>
            <a:r>
              <a:t>3. Hammering</a:t>
            </a:r>
          </a:p>
          <a:p>
            <a:pPr>
              <a:spcBef>
                <a:spcPts val="2000"/>
              </a:spcBef>
              <a:defRPr sz="1500" b="1">
                <a:solidFill>
                  <a:srgbClr val="FFFFFF"/>
                </a:solidFill>
              </a:defRPr>
            </a:pPr>
            <a:r>
              <a:t>4. Stillness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463040"/>
            <a:ext cx="6796735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164592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A4EA3"/>
                </a:solidFill>
              </a:defRPr>
            </a:pPr>
            <a:r>
              <a:t>DEFINITIONS &amp; MATCHES</a:t>
            </a:r>
          </a:p>
          <a:p>
            <a:pPr>
              <a:spcBef>
                <a:spcPts val="1600"/>
              </a:spcBef>
              <a:defRPr sz="1300">
                <a:solidFill>
                  <a:srgbClr val="1E293B"/>
                </a:solidFill>
              </a:defRPr>
            </a:pPr>
            <a:r>
              <a:t>A. Beating rapidly and loudly against something.  ➔ [Matches #3]</a:t>
            </a:r>
          </a:p>
          <a:p>
            <a:pPr>
              <a:spcBef>
                <a:spcPts val="1600"/>
              </a:spcBef>
              <a:defRPr sz="1300">
                <a:solidFill>
                  <a:srgbClr val="1E293B"/>
                </a:solidFill>
              </a:defRPr>
            </a:pPr>
            <a:r>
              <a:t>B. Vast, huge, and dark like a deep cave.  ➔ [Matches #1]</a:t>
            </a:r>
          </a:p>
          <a:p>
            <a:pPr>
              <a:spcBef>
                <a:spcPts val="1600"/>
              </a:spcBef>
              <a:defRPr sz="1300">
                <a:solidFill>
                  <a:srgbClr val="1E293B"/>
                </a:solidFill>
              </a:defRPr>
            </a:pPr>
            <a:r>
              <a:t>C. Quiet, calm, and undisturbed silence.  ➔ [Matches #4]</a:t>
            </a:r>
          </a:p>
          <a:p>
            <a:pPr>
              <a:spcBef>
                <a:spcPts val="1600"/>
              </a:spcBef>
              <a:defRPr sz="1300">
                <a:solidFill>
                  <a:srgbClr val="1E293B"/>
                </a:solidFill>
              </a:defRPr>
            </a:pPr>
            <a:r>
              <a:t>D. Constructed with high, arched ceilings or roofs.  ➔ [Matches #2]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B301"/>
                </a:solidFill>
                <a:latin typeface="Segoe UI"/>
              </a:defRPr>
            </a:pPr>
            <a:r>
              <a:t>COLLABORATIVE TASK • 6 MINS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4EA3"/>
                </a:solidFill>
                <a:latin typeface="Segoe UI"/>
              </a:defRPr>
            </a:pPr>
            <a:r>
              <a:t>Think–Pair–Share: Author's Purpose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BLUESKY EDUCATIONAL CONSULTS | Learning Beyond Borders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13455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3413455" cy="731520"/>
          </a:xfrm>
          <a:prstGeom prst="rect">
            <a:avLst/>
          </a:prstGeom>
          <a:solidFill>
            <a:srgbClr val="0A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THINK (1 Min)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304769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Consider individually:</a:t>
            </a:r>
            <a:br/>
            <a:r>
              <a:t>Why did the author, Maya Lin, write this opening passage? What emotion did she want you to feel?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63040"/>
            <a:ext cx="3413455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463040"/>
            <a:ext cx="3413455" cy="731520"/>
          </a:xfrm>
          <a:prstGeom prst="rect">
            <a:avLst/>
          </a:prstGeom>
          <a:solidFill>
            <a:srgbClr val="0A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PAIR (2 Mins)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377440"/>
            <a:ext cx="304769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Turn to your partner:</a:t>
            </a:r>
            <a:br/>
            <a:r>
              <a:t>Compare your ideas. Did you pick out the same descriptive words? Agree on the main purpose.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63040"/>
            <a:ext cx="3413455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463040"/>
            <a:ext cx="3413455" cy="73152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SHARE (3 Mins)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377440"/>
            <a:ext cx="304769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Class Discussion:</a:t>
            </a:r>
            <a:br/>
            <a:r>
              <a:t>Be ready to share your partner's best idea with the class using evidence from the text.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B301"/>
                </a:solidFill>
                <a:latin typeface="Segoe UI"/>
              </a:defRPr>
            </a:pPr>
            <a:r>
              <a:t>YOU DO • INDIVIDUAL WORK • 10 MINS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4EA3"/>
                </a:solidFill>
                <a:latin typeface="Segoe UI"/>
              </a:defRPr>
            </a:pPr>
            <a:r>
              <a:t>Independent Practice: Written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BLUESKY EDUCATIONAL CONSULTS | Learning Beyond Borders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728655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1018001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A4EA3"/>
                </a:solidFill>
              </a:defRPr>
            </a:pPr>
            <a:r>
              <a:t>📝 Task: Answer the following prompt in full sentences in your exercise notebook:</a:t>
            </a:r>
          </a:p>
          <a:p>
            <a:pPr>
              <a:spcBef>
                <a:spcPts val="1000"/>
              </a:spcBef>
              <a:defRPr sz="1600" b="1">
                <a:solidFill>
                  <a:srgbClr val="F5B301"/>
                </a:solidFill>
              </a:defRPr>
            </a:pPr>
            <a:r>
              <a:t>"How does Maya Lin create a sense of mystery and wonder in 'The Forgotten Library'?"</a:t>
            </a:r>
          </a:p>
          <a:p>
            <a:pPr>
              <a:spcBef>
                <a:spcPts val="1400"/>
              </a:spcBef>
              <a:defRPr sz="1300" b="1">
                <a:solidFill>
                  <a:srgbClr val="1E293B"/>
                </a:solidFill>
              </a:defRPr>
            </a:pPr>
            <a:r>
              <a:t>Requirements for your paragraph: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✓ Write at least 3-4 full sentences.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✓ Include at least ONE direct quotation from the text (e.g. 'cavernous room' or 'ancient oak trees').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✓ Use key vocabulary words (e.g. Tone, Imagery, Audience, Atmosphere).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✓ Check your capital letters, full stops, and spelling before submitting.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B301"/>
                </a:solidFill>
                <a:latin typeface="Segoe UI"/>
              </a:defRPr>
            </a:pPr>
            <a:r>
              <a:t>CREATIVE APPLICATION • 8 MINS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4EA3"/>
                </a:solidFill>
                <a:latin typeface="Segoe UI"/>
              </a:defRPr>
            </a:pPr>
            <a:r>
              <a:t>Creative Writing Challenge: Self-Introduction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BLUESKY EDUCATIONAL CONSULTS | Learning Beyond Borders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728655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1018001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A4EA3"/>
                </a:solidFill>
              </a:defRPr>
            </a:pPr>
            <a:r>
              <a:t>🎨 Task: Introduce Yourself using Descriptive Language</a:t>
            </a:r>
          </a:p>
          <a:p>
            <a:pPr>
              <a:spcBef>
                <a:spcPts val="800"/>
              </a:spcBef>
              <a:defRPr sz="1400">
                <a:solidFill>
                  <a:srgbClr val="1E293B"/>
                </a:solidFill>
              </a:defRPr>
            </a:pPr>
            <a:r>
              <a:t>Write a short 50-word paragraph introducing yourself to the class, but with a twist: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⭐ Do NOT just list facts (e.g. 'My name is Alex and I like football').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⭐ Use vivid verbs and sensory descriptions (e.g. 'I am a storm of energy on the football pitch...').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⭐ Include ONE simile or metaphor to describe your personality.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⭐ Set an enthusiastic or mysterious TONE.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B301"/>
                </a:solidFill>
                <a:latin typeface="Segoe UI"/>
              </a:defRPr>
            </a:pPr>
            <a:r>
              <a:t>MISCONCEPTIONS TO AVOID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4EA3"/>
                </a:solidFill>
                <a:latin typeface="Segoe UI"/>
              </a:defRPr>
            </a:pPr>
            <a:r>
              <a:t>Common Pitfalls in Year 7 English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BLUESKY EDUCATIONAL CONSULTS | Learning Beyond Borders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728655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C2626"/>
                </a:solidFill>
              </a:defRPr>
            </a:pPr>
            <a:r>
              <a:t>❌ Pitfall 1: One-Word Answers  </a:t>
            </a:r>
            <a:r>
              <a:rPr b="0">
                <a:solidFill>
                  <a:srgbClr val="1E293B"/>
                </a:solidFill>
              </a:rPr>
              <a:t>Giving 'Yes' or 'It was good' answers.</a:t>
            </a:r>
          </a:p>
          <a:p>
            <a:pPr>
              <a:spcBef>
                <a:spcPts val="400"/>
              </a:spcBef>
              <a:defRPr sz="1200" b="1">
                <a:solidFill>
                  <a:srgbClr val="0A4EA3"/>
                </a:solidFill>
              </a:defRPr>
            </a:pPr>
            <a:r>
              <a:t>✔️ Fix: Always answer in full sentences and give reasons for your point.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06040"/>
            <a:ext cx="10728655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9748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C2626"/>
                </a:solidFill>
              </a:defRPr>
            </a:pPr>
            <a:r>
              <a:t>❌ Pitfall 2: Floating Quotations  </a:t>
            </a:r>
            <a:r>
              <a:rPr b="0">
                <a:solidFill>
                  <a:srgbClr val="1E293B"/>
                </a:solidFill>
              </a:rPr>
              <a:t>Dropping quotes into paragraphs without context.</a:t>
            </a:r>
          </a:p>
          <a:p>
            <a:pPr>
              <a:spcBef>
                <a:spcPts val="400"/>
              </a:spcBef>
              <a:defRPr sz="1200" b="1">
                <a:solidFill>
                  <a:srgbClr val="0A4EA3"/>
                </a:solidFill>
              </a:defRPr>
            </a:pPr>
            <a:r>
              <a:t>✔️ Fix: Weave quotes into sentences (e.g. The author describes the room as 'cavernous').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49039"/>
            <a:ext cx="10728655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840479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C2626"/>
                </a:solidFill>
              </a:defRPr>
            </a:pPr>
            <a:r>
              <a:t>❌ Pitfall 3: Ignoring Punctuation  </a:t>
            </a:r>
            <a:r>
              <a:rPr b="0">
                <a:solidFill>
                  <a:srgbClr val="1E293B"/>
                </a:solidFill>
              </a:rPr>
              <a:t>Writing long run-on sentences without full stops.</a:t>
            </a:r>
          </a:p>
          <a:p>
            <a:pPr>
              <a:spcBef>
                <a:spcPts val="400"/>
              </a:spcBef>
              <a:defRPr sz="1200" b="1">
                <a:solidFill>
                  <a:srgbClr val="0A4EA3"/>
                </a:solidFill>
              </a:defRPr>
            </a:pPr>
            <a:r>
              <a:t>✔️ Fix: Read your work aloud in your head. Pause where there should be a comma or stop.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892040"/>
            <a:ext cx="10728655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98348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C2626"/>
                </a:solidFill>
              </a:defRPr>
            </a:pPr>
            <a:r>
              <a:t>❌ Pitfall 4: Confusing Language &amp; Lit  </a:t>
            </a:r>
            <a:r>
              <a:rPr b="0">
                <a:solidFill>
                  <a:srgbClr val="1E293B"/>
                </a:solidFill>
              </a:rPr>
              <a:t>Treating stories just as fun tales rather than constructed craft.</a:t>
            </a:r>
          </a:p>
          <a:p>
            <a:pPr>
              <a:spcBef>
                <a:spcPts val="400"/>
              </a:spcBef>
              <a:defRPr sz="1200" b="1">
                <a:solidFill>
                  <a:srgbClr val="0A4EA3"/>
                </a:solidFill>
              </a:defRPr>
            </a:pPr>
            <a:r>
              <a:t>✔️ Fix: Always ask WHY the author chose specific words.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B301"/>
                </a:solidFill>
                <a:latin typeface="Segoe UI"/>
              </a:defRPr>
            </a:pPr>
            <a:r>
              <a:t>CONNECTING TO THE REAL WORLD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4EA3"/>
                </a:solidFill>
                <a:latin typeface="Segoe UI"/>
              </a:defRPr>
            </a:pPr>
            <a:r>
              <a:t>Real-Life Applications of English Skills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BLUESKY EDUCATIONAL CONSULTS | Learning Beyond Borders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42255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87649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A4EA3"/>
                </a:solidFill>
              </a:defRPr>
            </a:pPr>
            <a:r>
              <a:t>📧 Professional Emails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Writing clear, polite messages to teachers, bosses, and organizations.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42255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487649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A4EA3"/>
                </a:solidFill>
              </a:defRPr>
            </a:pPr>
            <a:r>
              <a:t>📰 News &amp; Social Media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Analyzing articles to spot bias, exaggerated claims, and misdirection.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5242255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23360"/>
            <a:ext cx="487649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A4EA3"/>
                </a:solidFill>
              </a:defRPr>
            </a:pPr>
            <a:r>
              <a:t>🎤 Public Speaking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Delivering convincing presentations and speeches with vocal projection and confidence.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840480"/>
            <a:ext cx="5242255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023360"/>
            <a:ext cx="487649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A4EA3"/>
                </a:solidFill>
              </a:defRPr>
            </a:pPr>
            <a:r>
              <a:t>📚 Creative Writing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Crafting compelling stories, scripts, and lyrics that captivate audiences.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B301"/>
                </a:solidFill>
                <a:latin typeface="Segoe UI"/>
              </a:defRPr>
            </a:pPr>
            <a:r>
              <a:t>RECAP &amp;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4EA3"/>
                </a:solidFill>
                <a:latin typeface="Segoe UI"/>
              </a:defRPr>
            </a:pPr>
            <a:r>
              <a:t>Lesson Summary: What Have We Learnt?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BLUESKY EDUCATIONAL CONSULTS | Learning Beyond Borders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728655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A4EA3"/>
                </a:solidFill>
              </a:defRPr>
            </a:pPr>
            <a:r>
              <a:t>1. Core Distinction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English Language is the mechanics of communication; English Literature is the study of creative human expression.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06040"/>
            <a:ext cx="10728655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A4EA3"/>
                </a:solidFill>
              </a:defRPr>
            </a:pPr>
            <a:r>
              <a:t>2. Four Pillars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Mastery of English requires all 4 skills: Reading, Writing, Speaking, and Listening.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49039"/>
            <a:ext cx="10728655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886199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A4EA3"/>
                </a:solidFill>
              </a:defRPr>
            </a:pPr>
            <a:r>
              <a:t>3. Key Terminology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Author, Audience, Purpose, Genre, and Tone form our foundational vocabulary toolkit.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892040"/>
            <a:ext cx="10728655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029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A4EA3"/>
                </a:solidFill>
              </a:defRPr>
            </a:pPr>
            <a:r>
              <a:t>4. Text Analysis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Effective reading involves finding explicit literal information AND making implicit inferences using evidence.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B301"/>
                </a:solidFill>
                <a:latin typeface="Segoe UI"/>
              </a:defRPr>
            </a:pPr>
            <a:r>
              <a:t>PLENARY • 5 MINS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4EA3"/>
                </a:solidFill>
                <a:latin typeface="Segoe UI"/>
              </a:defRPr>
            </a:pPr>
            <a:r>
              <a:t>Exit Ticket: 3-2-1 Reflection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BLUESKY EDUCATIONAL CONSULTS | Learning Beyond Borders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13455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3413455" cy="731520"/>
          </a:xfrm>
          <a:prstGeom prst="rect">
            <a:avLst/>
          </a:prstGeom>
          <a:solidFill>
            <a:srgbClr val="0A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3 KEY TERMS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304769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Write down 3 new vocabulary words you learnt today and their definitions.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63040"/>
            <a:ext cx="3413455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463040"/>
            <a:ext cx="3413455" cy="731520"/>
          </a:xfrm>
          <a:prstGeom prst="rect">
            <a:avLst/>
          </a:prstGeom>
          <a:solidFill>
            <a:srgbClr val="0A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2 SKILLS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377440"/>
            <a:ext cx="304769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Name 2 language skills you used during today's lesson activities.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63040"/>
            <a:ext cx="3413455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463040"/>
            <a:ext cx="3413455" cy="73152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1 QUESTION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377440"/>
            <a:ext cx="304769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Write 1 question you still have about Key Stage 3 English.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B301"/>
                </a:solidFill>
                <a:latin typeface="Segoe UI"/>
              </a:defRPr>
            </a:pPr>
            <a:r>
              <a:t>INDEPENDENT STUDY • DUE NEXT LESSON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4EA3"/>
                </a:solidFill>
                <a:latin typeface="Segoe UI"/>
              </a:defRPr>
            </a:pPr>
            <a:r>
              <a:t>Homework Assignment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BLUESKY EDUCATIONAL CONSULTS | Learning Beyond Borders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728655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1018001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A4EA3"/>
                </a:solidFill>
              </a:defRPr>
            </a:pPr>
            <a:r>
              <a:t>📌 Task: Reading &amp; Analysis Log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Read a short story, newspaper article, or book chapter of your choice (minimum 300 words). In your notebook, record:</a:t>
            </a:r>
          </a:p>
          <a:p>
            <a:pPr>
              <a:spcBef>
                <a:spcPts val="1200"/>
              </a:spcBef>
              <a:defRPr sz="1300" b="1">
                <a:solidFill>
                  <a:srgbClr val="0A4EA3"/>
                </a:solidFill>
              </a:defRPr>
            </a:pPr>
            <a:r>
              <a:t>1. Title and Author of the text.</a:t>
            </a:r>
          </a:p>
          <a:p>
            <a:pPr>
              <a:spcBef>
                <a:spcPts val="1200"/>
              </a:spcBef>
              <a:defRPr sz="1300" b="1">
                <a:solidFill>
                  <a:srgbClr val="0A4EA3"/>
                </a:solidFill>
              </a:defRPr>
            </a:pPr>
            <a:r>
              <a:t>2. Three NEW or challenging vocabulary words with their dictionary definitions.</a:t>
            </a:r>
          </a:p>
          <a:p>
            <a:pPr>
              <a:spcBef>
                <a:spcPts val="1200"/>
              </a:spcBef>
              <a:defRPr sz="1300" b="1">
                <a:solidFill>
                  <a:srgbClr val="0A4EA3"/>
                </a:solidFill>
              </a:defRPr>
            </a:pPr>
            <a:r>
              <a:t>3. A 2-sentence summary of the main idea.</a:t>
            </a:r>
          </a:p>
          <a:p>
            <a:pPr>
              <a:spcBef>
                <a:spcPts val="1200"/>
              </a:spcBef>
              <a:defRPr sz="1300" b="1">
                <a:solidFill>
                  <a:srgbClr val="0A4EA3"/>
                </a:solidFill>
              </a:defRPr>
            </a:pPr>
            <a:r>
              <a:t>4. Copy your FAVOURITE sentence and explain in 1 sentence why you chose it.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B301"/>
                </a:solidFill>
                <a:latin typeface="Segoe UI"/>
              </a:defRPr>
            </a:pPr>
            <a:r>
              <a:t>LOOKING AHEAD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4EA3"/>
                </a:solidFill>
                <a:latin typeface="Segoe UI"/>
              </a:defRPr>
            </a:pPr>
            <a:r>
              <a:t>Next Time: Preview of Lesson 2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BLUESKY EDUCATIONAL CONSULTS | Learning Beyond Borders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728655" cy="4572000"/>
          </a:xfrm>
          <a:prstGeom prst="roundRect">
            <a:avLst/>
          </a:prstGeom>
          <a:solidFill>
            <a:srgbClr val="0A4EA3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999713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5B301"/>
                </a:solidFill>
              </a:defRPr>
            </a:pPr>
            <a:r>
              <a:t>📖 Lesson 2 Topic: Reading Skills — Explicit Info &amp; Simple Inferences</a:t>
            </a:r>
          </a:p>
          <a:p>
            <a:pPr>
              <a:spcBef>
                <a:spcPts val="1600"/>
              </a:spcBef>
              <a:defRPr sz="1400" b="1">
                <a:solidFill>
                  <a:srgbClr val="FFFFFF"/>
                </a:solidFill>
              </a:defRPr>
            </a:pPr>
            <a:r>
              <a:t>What we will explore next:</a:t>
            </a:r>
          </a:p>
          <a:p>
            <a:pPr>
              <a:spcBef>
                <a:spcPts val="1000"/>
              </a:spcBef>
              <a:defRPr sz="1400">
                <a:solidFill>
                  <a:srgbClr val="E2E8F0"/>
                </a:solidFill>
              </a:defRPr>
            </a:pPr>
            <a:r>
              <a:t>👉 How to skim and scan texts quickly for explicit key facts.</a:t>
            </a:r>
          </a:p>
          <a:p>
            <a:pPr>
              <a:spcBef>
                <a:spcPts val="1000"/>
              </a:spcBef>
              <a:defRPr sz="1400">
                <a:solidFill>
                  <a:srgbClr val="E2E8F0"/>
                </a:solidFill>
              </a:defRPr>
            </a:pPr>
            <a:r>
              <a:t>👉 How to use text clues to make accurate, evidence-based inferences.</a:t>
            </a:r>
          </a:p>
          <a:p>
            <a:pPr>
              <a:spcBef>
                <a:spcPts val="1000"/>
              </a:spcBef>
              <a:defRPr sz="1400">
                <a:solidFill>
                  <a:srgbClr val="E2E8F0"/>
                </a:solidFill>
              </a:defRPr>
            </a:pPr>
            <a:r>
              <a:t>👉 Analyzing non-fiction news reports vs. fictional adventures.</a:t>
            </a:r>
          </a:p>
          <a:p>
            <a:pPr>
              <a:spcBef>
                <a:spcPts val="1000"/>
              </a:spcBef>
              <a:defRPr sz="1400">
                <a:solidFill>
                  <a:srgbClr val="E2E8F0"/>
                </a:solidFill>
              </a:defRPr>
            </a:pPr>
            <a:r>
              <a:t>👉 Mastering P.E.E. paragraphs (Point, Evidence, Explanation).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4EA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914400"/>
            <a:ext cx="9448495" cy="5029200"/>
          </a:xfrm>
          <a:prstGeom prst="roundRect">
            <a:avLst/>
          </a:prstGeom>
          <a:solidFill>
            <a:srgbClr val="0A4EA3"/>
          </a:solidFill>
          <a:ln w="38100">
            <a:solidFill>
              <a:srgbClr val="F5B3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1188720"/>
            <a:ext cx="889985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5B301"/>
                </a:solidFill>
              </a:defRPr>
            </a:pPr>
            <a:r>
              <a:t>🎉 EXCELLENT WORK TODAY! 🎉</a:t>
            </a:r>
          </a:p>
          <a:p>
            <a:pPr algn="ctr">
              <a:spcBef>
                <a:spcPts val="1400"/>
              </a:spcBef>
              <a:defRPr sz="1800">
                <a:solidFill>
                  <a:srgbClr val="FFFFFF"/>
                </a:solidFill>
              </a:defRPr>
            </a:pPr>
            <a:r>
              <a:t>You have completed Lesson 1 of Key Stage 3 English.</a:t>
            </a:r>
          </a:p>
          <a:p>
            <a:pPr algn="ctr">
              <a:spcBef>
                <a:spcPts val="2400"/>
              </a:spcBef>
              <a:defRPr sz="1600" i="1">
                <a:solidFill>
                  <a:srgbClr val="E2E8F0"/>
                </a:solidFill>
              </a:defRPr>
            </a:pPr>
            <a:r>
              <a:t>"The more that you read, the more things you will know.</a:t>
            </a:r>
            <a:br/>
            <a:r>
              <a:t>The more that you learn, the more places you'll go."</a:t>
            </a:r>
          </a:p>
          <a:p>
            <a:pPr algn="ctr">
              <a:spcBef>
                <a:spcPts val="600"/>
              </a:spcBef>
              <a:defRPr sz="1400" b="1">
                <a:solidFill>
                  <a:srgbClr val="F5B301"/>
                </a:solidFill>
              </a:defRPr>
            </a:pPr>
            <a:r>
              <a:t>— Dr. Seuss</a:t>
            </a:r>
          </a:p>
          <a:p>
            <a:pPr algn="ctr">
              <a:spcBef>
                <a:spcPts val="3000"/>
              </a:spcBef>
              <a:defRPr sz="1100">
                <a:solidFill>
                  <a:srgbClr val="94A3B8"/>
                </a:solidFill>
              </a:defRPr>
            </a:pPr>
            <a:r>
              <a:t>BLUESKY EDUCATIONAL CONSULTS | Learning Beyond Borders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