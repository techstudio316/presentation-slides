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EA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371600"/>
            <a:ext cx="137160" cy="45720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B301"/>
                </a:solidFill>
                <a:latin typeface="Arial"/>
              </a:defRPr>
            </a:pPr>
            <a:r>
              <a:t>BLUESKY EDUCATIONAL CONSULTS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Introduction to English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  <a:latin typeface="Arial"/>
              </a:defRPr>
            </a:pPr>
            <a:r>
              <a:t>Understanding Language, Literature &amp; Effective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B301"/>
                </a:solidFill>
                <a:latin typeface="Arial"/>
              </a:defRPr>
            </a:pPr>
            <a:r>
              <a:t>Year 7 English • Key Stage 3 • Week 1, Lesson 1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Duration: 90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3763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8479"/>
                </a:solidFill>
                <a:latin typeface="Arial"/>
              </a:defRPr>
            </a:pPr>
            <a:r>
              <a:t>Slide 2 of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4EA3"/>
                </a:solidFill>
                <a:latin typeface="Arial"/>
              </a:defRPr>
            </a:pPr>
            <a:r>
              <a:t>Welcome to Key Stage 3 English!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6858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09728" cy="438912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4EA3"/>
                </a:solidFill>
              </a:defRPr>
            </a:pPr>
            <a:r>
              <a:t>A New Chapter Begins</a:t>
            </a:r>
          </a:p>
          <a:p>
            <a:pPr>
              <a:spcBef>
                <a:spcPts val="1200"/>
              </a:spcBef>
              <a:defRPr sz="1400">
                <a:solidFill>
                  <a:srgbClr val="1E1E1E"/>
                </a:solidFill>
              </a:defRPr>
            </a:pPr>
            <a:r>
              <a:t>• Welcome to your Secondary English journey!</a:t>
            </a:r>
          </a:p>
          <a:p>
            <a:pPr>
              <a:spcBef>
                <a:spcPts val="1200"/>
              </a:spcBef>
              <a:defRPr sz="1400">
                <a:solidFill>
                  <a:srgbClr val="1E1E1E"/>
                </a:solidFill>
              </a:defRPr>
            </a:pPr>
            <a:r>
              <a:t>• Explore powerful stories, debate big ideas, and master expression.</a:t>
            </a:r>
          </a:p>
          <a:p>
            <a:pPr>
              <a:spcBef>
                <a:spcPts val="1200"/>
              </a:spcBef>
              <a:defRPr sz="1400">
                <a:solidFill>
                  <a:srgbClr val="1E1E1E"/>
                </a:solidFill>
              </a:defRPr>
            </a:pPr>
            <a:r>
              <a:t>• Our classroom is a safe space to test ideas and grow.</a:t>
            </a:r>
          </a:p>
          <a:p>
            <a:pPr>
              <a:spcBef>
                <a:spcPts val="1200"/>
              </a:spcBef>
              <a:defRPr sz="1400">
                <a:solidFill>
                  <a:srgbClr val="1E1E1E"/>
                </a:solidFill>
              </a:defRPr>
            </a:pPr>
            <a:r>
              <a:t>• Read critically, write creatively, speak persuasively.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737360"/>
            <a:ext cx="3931920" cy="4389120"/>
          </a:xfrm>
          <a:prstGeom prst="roundRect">
            <a:avLst/>
          </a:prstGeom>
          <a:solidFill>
            <a:srgbClr val="0A4EA3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0" y="1737360"/>
            <a:ext cx="109728" cy="438912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92024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B301"/>
                </a:solidFill>
              </a:defRPr>
            </a:pPr>
            <a:r>
              <a:t>Classroom Values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📖 Active Listening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🙋 Active Participation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🤝 Mutual Respect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💡 Creative Curiosity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✏️ High Endeavour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3763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8479"/>
                </a:solidFill>
                <a:latin typeface="Arial"/>
              </a:defRPr>
            </a:pPr>
            <a:r>
              <a:t>Slide 3 of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Arial"/>
              </a:defRPr>
            </a:pPr>
            <a:r>
              <a:t>Ice Breaker: What Makes a Good Communicator?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1094415" cy="1371600"/>
          </a:xfrm>
          <a:prstGeom prst="roundRect">
            <a:avLst/>
          </a:prstGeom>
          <a:solidFill>
            <a:srgbClr val="0A4EA3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09728" cy="13716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💬 Think of someone you love listening to (a YouTuber, teacher, author, or friend).</a:t>
            </a:r>
          </a:p>
          <a:p>
            <a:pPr>
              <a:spcBef>
                <a:spcPts val="600"/>
              </a:spcBef>
              <a:defRPr sz="1400">
                <a:solidFill>
                  <a:srgbClr val="F5B301"/>
                </a:solidFill>
              </a:defRPr>
            </a:pPr>
            <a:r>
              <a:t>What makes them so effective when they communicate?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109728" cy="292608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1. Tone &amp; Voice</a:t>
            </a:r>
          </a:p>
          <a:p>
            <a:pPr>
              <a:spcBef>
                <a:spcPts val="1000"/>
              </a:spcBef>
              <a:defRPr sz="1300">
                <a:solidFill>
                  <a:srgbClr val="1E1E1E"/>
                </a:solidFill>
              </a:defRPr>
            </a:pPr>
            <a:r>
              <a:t>Is it how they sound, the words they choose, or their body language?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320040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3200400"/>
            <a:ext cx="109728" cy="292608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338328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2. Clarity</a:t>
            </a:r>
          </a:p>
          <a:p>
            <a:pPr>
              <a:spcBef>
                <a:spcPts val="1000"/>
              </a:spcBef>
              <a:defRPr sz="1300">
                <a:solidFill>
                  <a:srgbClr val="1E1E1E"/>
                </a:solidFill>
              </a:defRPr>
            </a:pPr>
            <a:r>
              <a:t>Do they make complex ideas easy to understand?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3200400"/>
            <a:ext cx="34747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3200400"/>
            <a:ext cx="109728" cy="292608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338328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3. Engagement</a:t>
            </a:r>
          </a:p>
          <a:p>
            <a:pPr>
              <a:spcBef>
                <a:spcPts val="1000"/>
              </a:spcBef>
              <a:defRPr sz="1300">
                <a:solidFill>
                  <a:srgbClr val="1E1E1E"/>
                </a:solidFill>
              </a:defRPr>
            </a:pPr>
            <a:r>
              <a:t>How do they keep your attention from start to finish?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3763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8479"/>
                </a:solidFill>
                <a:latin typeface="Arial"/>
              </a:defRPr>
            </a:pPr>
            <a:r>
              <a:t>Slide 4 of 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77240"/>
            <a:ext cx="1280160" cy="292608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E8479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777240"/>
            <a:ext cx="1280160" cy="292608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E8479"/>
                </a:solidFill>
                <a:latin typeface="Arial"/>
              </a:defRPr>
            </a:pPr>
            <a:r>
              <a:t>LESSON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777240"/>
            <a:ext cx="1280160" cy="292608"/>
          </a:xfrm>
          <a:prstGeom prst="roundRect">
            <a:avLst/>
          </a:prstGeom>
          <a:solidFill>
            <a:srgbClr val="FF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88C00"/>
                </a:solidFill>
                <a:latin typeface="Arial"/>
              </a:defRPr>
            </a:pPr>
            <a:r>
              <a:t>90 MINS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A4EA3"/>
                </a:solidFill>
                <a:latin typeface="Arial"/>
              </a:defRPr>
            </a:pPr>
            <a:r>
              <a:t>Learning 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640080" cy="640080"/>
          </a:xfrm>
          <a:prstGeom prst="round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B301"/>
                </a:solidFill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737360"/>
            <a:ext cx="10271455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1737360"/>
            <a:ext cx="109728" cy="68580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8288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4EA3"/>
                </a:solidFill>
              </a:defRPr>
            </a:pPr>
            <a:r>
              <a:t>Distinguish Core Domains — </a:t>
            </a:r>
            <a:r>
              <a:rPr b="0">
                <a:solidFill>
                  <a:srgbClr val="1E1E1E"/>
                </a:solidFill>
              </a:rPr>
              <a:t>Explain what English Language and English Literature 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6039"/>
            <a:ext cx="640080" cy="640080"/>
          </a:xfrm>
          <a:prstGeom prst="round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B301"/>
                </a:solidFill>
              </a:defRPr>
            </a:pPr>
            <a: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606039"/>
            <a:ext cx="10271455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2606039"/>
            <a:ext cx="109728" cy="68580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697479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4EA3"/>
                </a:solidFill>
              </a:defRPr>
            </a:pPr>
            <a:r>
              <a:t>Identify the Four Pillars — </a:t>
            </a:r>
            <a:r>
              <a:rPr b="0">
                <a:solidFill>
                  <a:srgbClr val="1E1E1E"/>
                </a:solidFill>
              </a:rPr>
              <a:t>Recognise the four key skills: Reading, Writing, Speaking, Listening.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74720"/>
            <a:ext cx="640080" cy="640080"/>
          </a:xfrm>
          <a:prstGeom prst="round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B301"/>
                </a:solidFill>
              </a:defRPr>
            </a:pPr>
            <a: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474720"/>
            <a:ext cx="10271455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3474720"/>
            <a:ext cx="109728" cy="68580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356616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4EA3"/>
                </a:solidFill>
              </a:defRPr>
            </a:pPr>
            <a:r>
              <a:t>Understand Communication — </a:t>
            </a:r>
            <a:r>
              <a:rPr b="0">
                <a:solidFill>
                  <a:srgbClr val="1E1E1E"/>
                </a:solidFill>
              </a:rPr>
              <a:t>Recognise why effective communication is vital.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640080" cy="640080"/>
          </a:xfrm>
          <a:prstGeom prst="round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B301"/>
                </a:solidFill>
              </a:defRPr>
            </a:pPr>
            <a:r>
              <a:t>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343400"/>
            <a:ext cx="10271455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4343400"/>
            <a:ext cx="109728" cy="68580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44348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4EA3"/>
                </a:solidFill>
              </a:defRPr>
            </a:pPr>
            <a:r>
              <a:t>Master Key Vocabulary — </a:t>
            </a:r>
            <a:r>
              <a:rPr b="0">
                <a:solidFill>
                  <a:srgbClr val="1E1E1E"/>
                </a:solidFill>
              </a:rPr>
              <a:t>Use subject-specific terminology confidently.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212079"/>
            <a:ext cx="640080" cy="640080"/>
          </a:xfrm>
          <a:prstGeom prst="round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B301"/>
                </a:solidFill>
              </a:defRPr>
            </a:pPr>
            <a:r>
              <a:t>05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5212079"/>
            <a:ext cx="10271455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71600" y="5212079"/>
            <a:ext cx="109728" cy="68580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5303519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4EA3"/>
                </a:solidFill>
              </a:defRPr>
            </a:pPr>
            <a:r>
              <a:t>Analyse Text for Meaning — </a:t>
            </a:r>
            <a:r>
              <a:rPr b="0">
                <a:solidFill>
                  <a:srgbClr val="1E1E1E"/>
                </a:solidFill>
              </a:rPr>
              <a:t>Extract literal and inferential meaning using evidence.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3763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8479"/>
                </a:solidFill>
                <a:latin typeface="Arial"/>
              </a:defRPr>
            </a:pPr>
            <a:r>
              <a:t>Slide 5 of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A4EA3"/>
                </a:solidFill>
                <a:latin typeface="Arial"/>
              </a:defRPr>
            </a:pPr>
            <a:r>
              <a:t>Success Criteria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109441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09728" cy="118872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✓ Bronze Level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I can state the difference between English Language and English Literature, and list the four skills.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08960"/>
            <a:ext cx="1109441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09728" cy="1188720"/>
          </a:xfrm>
          <a:prstGeom prst="rect">
            <a:avLst/>
          </a:prstGeom>
          <a:solidFill>
            <a:srgbClr val="1E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8479"/>
                </a:solidFill>
              </a:defRPr>
            </a:pPr>
            <a:r>
              <a:t>✓ Silver Level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I can define key vocabulary and identify them in a short 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09441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572000"/>
            <a:ext cx="109728" cy="118872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B301"/>
                </a:solidFill>
              </a:defRPr>
            </a:pPr>
            <a:r>
              <a:t>✓ Gold Level</a:t>
            </a:r>
          </a:p>
          <a:p>
            <a:pPr>
              <a:spcBef>
                <a:spcPts val="600"/>
              </a:spcBef>
              <a:defRPr sz="1400">
                <a:solidFill>
                  <a:srgbClr val="1E1E1E"/>
                </a:solidFill>
              </a:defRPr>
            </a:pPr>
            <a:r>
              <a:t>I can explain the author's purpose using explicit evidence and make simple inferences.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3763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8479"/>
                </a:solidFill>
                <a:latin typeface="Arial"/>
              </a:defRPr>
            </a:pPr>
            <a:r>
              <a:t>Slide 6 of 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77240"/>
            <a:ext cx="1188720" cy="292608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E8479"/>
                </a:solidFill>
                <a:latin typeface="Arial"/>
              </a:defRPr>
            </a:pPr>
            <a:r>
              <a:t>STARTER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777240"/>
            <a:ext cx="1188720" cy="292608"/>
          </a:xfrm>
          <a:prstGeom prst="roundRect">
            <a:avLst/>
          </a:prstGeom>
          <a:solidFill>
            <a:srgbClr val="FF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88C00"/>
                </a:solidFill>
                <a:latin typeface="Arial"/>
              </a:defRPr>
            </a:pPr>
            <a:r>
              <a:t>5 MINS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Arial"/>
              </a:defRPr>
            </a:pPr>
            <a:r>
              <a:t>Warm-up: Word Association Challenge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731520"/>
          </a:xfrm>
          <a:prstGeom prst="roundRect">
            <a:avLst/>
          </a:prstGeom>
          <a:solidFill>
            <a:srgbClr val="0A4EA3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09728" cy="73152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⚡ Challenge: You have 2 minutes! Write down words you associate with each pillar: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51760"/>
            <a:ext cx="26517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109728" cy="347472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4EA3"/>
                </a:solidFill>
              </a:defRPr>
            </a:pPr>
            <a:r>
              <a:t>📖 READING</a:t>
            </a:r>
          </a:p>
          <a:p>
            <a:pPr>
              <a:spcBef>
                <a:spcPts val="800"/>
              </a:spcBef>
              <a:defRPr sz="1000" b="1">
                <a:solidFill>
                  <a:srgbClr val="F5B301"/>
                </a:solidFill>
              </a:defRPr>
            </a:pPr>
            <a:r>
              <a:t>Examples: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Books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Comprehension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Library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Context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Analyze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Decode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651760"/>
            <a:ext cx="26517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651760"/>
            <a:ext cx="109728" cy="347472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4EA3"/>
                </a:solidFill>
              </a:defRPr>
            </a:pPr>
            <a:r>
              <a:t>✍️ WRITING</a:t>
            </a:r>
          </a:p>
          <a:p>
            <a:pPr>
              <a:spcBef>
                <a:spcPts val="800"/>
              </a:spcBef>
              <a:defRPr sz="1000" b="1">
                <a:solidFill>
                  <a:srgbClr val="F5B301"/>
                </a:solidFill>
              </a:defRPr>
            </a:pPr>
            <a:r>
              <a:t>Examples: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Grammar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Essays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Creativity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Vocabulary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Draft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Punctuation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651760"/>
            <a:ext cx="26517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651760"/>
            <a:ext cx="109728" cy="347472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7889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4EA3"/>
                </a:solidFill>
              </a:defRPr>
            </a:pPr>
            <a:r>
              <a:t>🗣️ SPEAKING</a:t>
            </a:r>
          </a:p>
          <a:p>
            <a:pPr>
              <a:spcBef>
                <a:spcPts val="800"/>
              </a:spcBef>
              <a:defRPr sz="1000" b="1">
                <a:solidFill>
                  <a:srgbClr val="F5B301"/>
                </a:solidFill>
              </a:defRPr>
            </a:pPr>
            <a:r>
              <a:t>Examples: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Debate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Tone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Pitch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Expression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Dialogue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Presentation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2651760"/>
            <a:ext cx="26517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2651760"/>
            <a:ext cx="109728" cy="347472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7889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4EA3"/>
                </a:solidFill>
              </a:defRPr>
            </a:pPr>
            <a:r>
              <a:t>👂 LISTENING</a:t>
            </a:r>
          </a:p>
          <a:p>
            <a:pPr>
              <a:spcBef>
                <a:spcPts val="800"/>
              </a:spcBef>
              <a:defRPr sz="1000" b="1">
                <a:solidFill>
                  <a:srgbClr val="F5B301"/>
                </a:solidFill>
              </a:defRPr>
            </a:pPr>
            <a:r>
              <a:t>Examples: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Attention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Empathy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Focus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Active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Notes</a:t>
            </a:r>
          </a:p>
          <a:p>
            <a:pPr>
              <a:spcBef>
                <a:spcPts val="300"/>
              </a:spcBef>
              <a:defRPr sz="1100">
                <a:solidFill>
                  <a:srgbClr val="1E1E1E"/>
                </a:solidFill>
              </a:defRPr>
            </a:pPr>
            <a:r>
              <a:t>• Understanding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3763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8479"/>
                </a:solidFill>
                <a:latin typeface="Arial"/>
              </a:defRPr>
            </a:pPr>
            <a:r>
              <a:t>Slide 7 of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A4EA3"/>
                </a:solidFill>
                <a:latin typeface="Arial"/>
              </a:defRPr>
            </a:pPr>
            <a:r>
              <a:t>What is English? Language vs. Literature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09728" cy="438912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4EA3"/>
                </a:solidFill>
              </a:defRPr>
            </a:pPr>
            <a:r>
              <a:t>🔤 English Language</a:t>
            </a:r>
          </a:p>
          <a:p>
            <a:pPr>
              <a:spcBef>
                <a:spcPts val="400"/>
              </a:spcBef>
              <a:defRPr sz="1200" b="1">
                <a:solidFill>
                  <a:srgbClr val="F5B301"/>
                </a:solidFill>
              </a:defRPr>
            </a:pPr>
            <a:r>
              <a:t>The Tool of Communication</a:t>
            </a:r>
          </a:p>
          <a:p>
            <a:pPr>
              <a:spcBef>
                <a:spcPts val="1000"/>
              </a:spcBef>
              <a:defRPr sz="1300">
                <a:solidFill>
                  <a:srgbClr val="1E1E1E"/>
                </a:solidFill>
              </a:defRPr>
            </a:pPr>
            <a:r>
              <a:t>• Focuses on HOW words work together.</a:t>
            </a:r>
          </a:p>
          <a:p>
            <a:pPr>
              <a:spcBef>
                <a:spcPts val="1000"/>
              </a:spcBef>
              <a:defRPr sz="1300">
                <a:solidFill>
                  <a:srgbClr val="1E1E1E"/>
                </a:solidFill>
              </a:defRPr>
            </a:pPr>
            <a:r>
              <a:t>• Includes grammar, punctuation, vocabulary.</a:t>
            </a:r>
          </a:p>
          <a:p>
            <a:pPr>
              <a:spcBef>
                <a:spcPts val="1000"/>
              </a:spcBef>
              <a:defRPr sz="1300">
                <a:solidFill>
                  <a:srgbClr val="1E1E1E"/>
                </a:solidFill>
              </a:defRPr>
            </a:pPr>
            <a:r>
              <a:t>• Changes according to audience &amp; purpose.</a:t>
            </a:r>
          </a:p>
          <a:p>
            <a:pPr>
              <a:spcBef>
                <a:spcPts val="1000"/>
              </a:spcBef>
              <a:defRPr sz="1300">
                <a:solidFill>
                  <a:srgbClr val="1E1E1E"/>
                </a:solidFill>
              </a:defRPr>
            </a:pPr>
            <a:r>
              <a:t>• Teaches non-fiction: articles, speeches, reports.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109728" cy="438912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4EA3"/>
                </a:solidFill>
              </a:defRPr>
            </a:pPr>
            <a:r>
              <a:t>📚 English Literature</a:t>
            </a:r>
          </a:p>
          <a:p>
            <a:pPr>
              <a:spcBef>
                <a:spcPts val="400"/>
              </a:spcBef>
              <a:defRPr sz="1200" b="1">
                <a:solidFill>
                  <a:srgbClr val="F5B301"/>
                </a:solidFill>
              </a:defRPr>
            </a:pPr>
            <a:r>
              <a:t>The Study of Human Experience</a:t>
            </a:r>
          </a:p>
          <a:p>
            <a:pPr>
              <a:spcBef>
                <a:spcPts val="1000"/>
              </a:spcBef>
              <a:defRPr sz="1300">
                <a:solidFill>
                  <a:srgbClr val="1E1E1E"/>
                </a:solidFill>
              </a:defRPr>
            </a:pPr>
            <a:r>
              <a:t>• Focuses on WHAT writers express and WHY.</a:t>
            </a:r>
          </a:p>
          <a:p>
            <a:pPr>
              <a:spcBef>
                <a:spcPts val="1000"/>
              </a:spcBef>
              <a:defRPr sz="1300">
                <a:solidFill>
                  <a:srgbClr val="1E1E1E"/>
                </a:solidFill>
              </a:defRPr>
            </a:pPr>
            <a:r>
              <a:t>• Includes novels, plays, poetry, historical texts.</a:t>
            </a:r>
          </a:p>
          <a:p>
            <a:pPr>
              <a:spcBef>
                <a:spcPts val="1000"/>
              </a:spcBef>
              <a:defRPr sz="1300">
                <a:solidFill>
                  <a:srgbClr val="1E1E1E"/>
                </a:solidFill>
              </a:defRPr>
            </a:pPr>
            <a:r>
              <a:t>• Explores themes: love, power, conflict, identity.</a:t>
            </a:r>
          </a:p>
          <a:p>
            <a:pPr>
              <a:spcBef>
                <a:spcPts val="1000"/>
              </a:spcBef>
              <a:defRPr sz="1300">
                <a:solidFill>
                  <a:srgbClr val="1E1E1E"/>
                </a:solidFill>
              </a:defRPr>
            </a:pPr>
            <a:r>
              <a:t>• Teaches analytical and critical thinking.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3763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8479"/>
                </a:solidFill>
                <a:latin typeface="Arial"/>
              </a:defRPr>
            </a:pPr>
            <a:r>
              <a:t>Slide 8 of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A4EA3"/>
                </a:solidFill>
                <a:latin typeface="Arial"/>
              </a:defRPr>
            </a:pPr>
            <a:r>
              <a:t>The Four Language 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09728" cy="201168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4EA3"/>
                </a:solidFill>
              </a:defRPr>
            </a:pPr>
            <a:r>
              <a:t>📖 READING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[Receptive Skill]</a:t>
            </a:r>
          </a:p>
          <a:p>
            <a:pPr>
              <a:spcBef>
                <a:spcPts val="800"/>
              </a:spcBef>
              <a:defRPr sz="1300">
                <a:solidFill>
                  <a:srgbClr val="1E1E1E"/>
                </a:solidFill>
              </a:defRPr>
            </a:pPr>
            <a:r>
              <a:t>Decoding symbols, interpreting meaning, analyzing techniques.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64592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59" y="1645920"/>
            <a:ext cx="109728" cy="201168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18288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4EA3"/>
                </a:solidFill>
              </a:defRPr>
            </a:pPr>
            <a:r>
              <a:t>✍️ WRITING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[Productive Skill]</a:t>
            </a:r>
          </a:p>
          <a:p>
            <a:pPr>
              <a:spcBef>
                <a:spcPts val="800"/>
              </a:spcBef>
              <a:defRPr sz="1300">
                <a:solidFill>
                  <a:srgbClr val="1E1E1E"/>
                </a:solidFill>
              </a:defRPr>
            </a:pPr>
            <a:r>
              <a:t>Structuring thoughts, selecting vocabulary, crafting narratives.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931920"/>
            <a:ext cx="109728" cy="201168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B301"/>
                </a:solidFill>
              </a:defRPr>
            </a:pPr>
            <a:r>
              <a:t>🗣️ SPEAKING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[Productive Skill]</a:t>
            </a:r>
          </a:p>
          <a:p>
            <a:pPr>
              <a:spcBef>
                <a:spcPts val="800"/>
              </a:spcBef>
              <a:defRPr sz="1300">
                <a:solidFill>
                  <a:srgbClr val="1E1E1E"/>
                </a:solidFill>
              </a:defRPr>
            </a:pPr>
            <a:r>
              <a:t>Articulating ideas, adapting tone, presenting arguments.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393192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3931920"/>
            <a:ext cx="109728" cy="201168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41148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B301"/>
                </a:solidFill>
              </a:defRPr>
            </a:pPr>
            <a:r>
              <a:t>👂 LISTENING</a:t>
            </a:r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[Receptive Skill]</a:t>
            </a:r>
          </a:p>
          <a:p>
            <a:pPr>
              <a:spcBef>
                <a:spcPts val="800"/>
              </a:spcBef>
              <a:defRPr sz="1300">
                <a:solidFill>
                  <a:srgbClr val="1E1E1E"/>
                </a:solidFill>
              </a:defRPr>
            </a:pPr>
            <a:r>
              <a:t>Processing spoken words, active listening, understanding intent.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3763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8479"/>
                </a:solidFill>
                <a:latin typeface="Arial"/>
              </a:defRPr>
            </a:pPr>
            <a:r>
              <a:t>Slide 9 of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A4EA3"/>
                </a:solidFill>
                <a:latin typeface="Arial"/>
              </a:defRPr>
            </a:pPr>
            <a:r>
              <a:t>Why English Matters Beyond the Classroom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651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09728" cy="438912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🎓 Education</a:t>
            </a:r>
          </a:p>
          <a:p>
            <a:pPr>
              <a:spcBef>
                <a:spcPts val="1200"/>
              </a:spcBef>
              <a:defRPr sz="1200">
                <a:solidFill>
                  <a:srgbClr val="1E1E1E"/>
                </a:solidFill>
              </a:defRPr>
            </a:pPr>
            <a:r>
              <a:t>Mastering English unlocks all subjects—from science reports to history documents.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651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109728" cy="438912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💼 Careers</a:t>
            </a:r>
          </a:p>
          <a:p>
            <a:pPr>
              <a:spcBef>
                <a:spcPts val="1200"/>
              </a:spcBef>
              <a:defRPr sz="1200">
                <a:solidFill>
                  <a:srgbClr val="1E1E1E"/>
                </a:solidFill>
              </a:defRPr>
            </a:pPr>
            <a:r>
              <a:t>Employers rank clear communication as the #1 essential workplace skill.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651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109728" cy="438912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🌐 Media Literacy</a:t>
            </a:r>
          </a:p>
          <a:p>
            <a:pPr>
              <a:spcBef>
                <a:spcPts val="1200"/>
              </a:spcBef>
              <a:defRPr sz="1200">
                <a:solidFill>
                  <a:srgbClr val="1E1E1E"/>
                </a:solidFill>
              </a:defRPr>
            </a:pPr>
            <a:r>
              <a:t>Helps navigate social media, spot fake news, evaluate bias.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645920"/>
            <a:ext cx="2651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52560" y="1645920"/>
            <a:ext cx="109728" cy="438912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🗣️ Everyday Life</a:t>
            </a:r>
          </a:p>
          <a:p>
            <a:pPr>
              <a:spcBef>
                <a:spcPts val="1200"/>
              </a:spcBef>
              <a:defRPr sz="1200">
                <a:solidFill>
                  <a:srgbClr val="1E1E1E"/>
                </a:solidFill>
              </a:defRPr>
            </a:pPr>
            <a:r>
              <a:t>Expressing feelings, resolving conflicts, forming relationships.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3763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8479"/>
                </a:solidFill>
                <a:latin typeface="Arial"/>
              </a:defRPr>
            </a:pPr>
            <a:r>
              <a:t>Slide 10 of 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77240"/>
            <a:ext cx="1645920" cy="292608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E8479"/>
                </a:solidFill>
                <a:latin typeface="Arial"/>
              </a:defRPr>
            </a:pPr>
            <a:r>
              <a:t>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Arial"/>
              </a:defRPr>
            </a:pPr>
            <a:r>
              <a:t>Building Vocabulary: Core English Toolkit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103120" cy="685800"/>
          </a:xfrm>
          <a:prstGeom prst="roundRect">
            <a:avLst/>
          </a:prstGeom>
          <a:solidFill>
            <a:srgbClr val="0A4EA3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09728" cy="68580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B301"/>
                </a:solidFill>
              </a:defRPr>
            </a:pPr>
            <a:r>
              <a:t>Author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737360"/>
            <a:ext cx="8808415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1737360"/>
            <a:ext cx="109728" cy="68580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87452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</a:defRPr>
            </a:pPr>
            <a:r>
              <a:t>The writer of a text, story, or document.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6039"/>
            <a:ext cx="2103120" cy="685800"/>
          </a:xfrm>
          <a:prstGeom prst="roundRect">
            <a:avLst/>
          </a:prstGeom>
          <a:solidFill>
            <a:srgbClr val="0A4EA3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606039"/>
            <a:ext cx="109728" cy="68580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43199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B301"/>
                </a:solidFill>
              </a:defRPr>
            </a:pPr>
            <a:r>
              <a:t>Audience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2606039"/>
            <a:ext cx="8808415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40" y="2606039"/>
            <a:ext cx="109728" cy="68580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2743199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</a:defRPr>
            </a:pPr>
            <a:r>
              <a:t>The intended reader, listener, or viewer.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74720"/>
            <a:ext cx="2103120" cy="685800"/>
          </a:xfrm>
          <a:prstGeom prst="roundRect">
            <a:avLst/>
          </a:prstGeom>
          <a:solidFill>
            <a:srgbClr val="0A4EA3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109728" cy="68580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1188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B301"/>
                </a:solidFill>
              </a:defRPr>
            </a:pPr>
            <a:r>
              <a:t>Purpose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3474720"/>
            <a:ext cx="8808415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34640" y="3474720"/>
            <a:ext cx="109728" cy="68580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361188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</a:defRPr>
            </a:pPr>
            <a:r>
              <a:t>The reason a text was created (inform, persuade, entertain).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343400"/>
            <a:ext cx="2103120" cy="685800"/>
          </a:xfrm>
          <a:prstGeom prst="roundRect">
            <a:avLst/>
          </a:prstGeom>
          <a:solidFill>
            <a:srgbClr val="0A4EA3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343400"/>
            <a:ext cx="109728" cy="68580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48056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B301"/>
                </a:solidFill>
              </a:defRPr>
            </a:pPr>
            <a:r>
              <a:t>Genre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34640" y="4343400"/>
            <a:ext cx="8808415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34640" y="4343400"/>
            <a:ext cx="109728" cy="68580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0" y="448056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</a:defRPr>
            </a:pPr>
            <a:r>
              <a:t>The category or style of literature/media.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212079"/>
            <a:ext cx="2103120" cy="685800"/>
          </a:xfrm>
          <a:prstGeom prst="roundRect">
            <a:avLst/>
          </a:prstGeom>
          <a:solidFill>
            <a:srgbClr val="0A4EA3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212079"/>
            <a:ext cx="109728" cy="68580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349239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B301"/>
                </a:solidFill>
              </a:defRPr>
            </a:pPr>
            <a:r>
              <a:t>Tone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34640" y="5212079"/>
            <a:ext cx="8808415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34640" y="5212079"/>
            <a:ext cx="109728" cy="68580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17520" y="5349239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</a:defRPr>
            </a:pPr>
            <a:r>
              <a:t>The mood or attitude expressed by the writer.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3763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8479"/>
                </a:solidFill>
                <a:latin typeface="Arial"/>
              </a:defRPr>
            </a:pPr>
            <a:r>
              <a:t>Slide 11 of 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77240"/>
            <a:ext cx="1188720" cy="292608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E8479"/>
                </a:solidFill>
                <a:latin typeface="Arial"/>
              </a:defRPr>
            </a:pPr>
            <a:r>
              <a:t>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777240"/>
            <a:ext cx="1188720" cy="292608"/>
          </a:xfrm>
          <a:prstGeom prst="roundRect">
            <a:avLst/>
          </a:prstGeom>
          <a:solidFill>
            <a:srgbClr val="FF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88C00"/>
                </a:solidFill>
                <a:latin typeface="Arial"/>
              </a:defRPr>
            </a:pPr>
            <a:r>
              <a:t>10 MINS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Arial"/>
              </a:defRPr>
            </a:pPr>
            <a:r>
              <a:t>Reading Activity: The Discovery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09728" cy="365760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4748B"/>
                </a:solidFill>
              </a:defRPr>
            </a:pPr>
            <a:r>
              <a:t>Excerpt from 'The Forgotten Library' by Maya Lin</a:t>
            </a:r>
          </a:p>
          <a:p>
            <a:pPr>
              <a:spcBef>
                <a:spcPts val="1200"/>
              </a:spcBef>
              <a:defRPr sz="1400">
                <a:solidFill>
                  <a:srgbClr val="1E1E1E"/>
                </a:solidFill>
              </a:defRPr>
            </a:pPr>
            <a:r>
              <a:t>The heavy wooden door groaned as Arthur pushed it open, revealing a cavernous room bathed in golden dust motes. Bookshelves reached up toward vaulted ceilings like ancient oak trees, their branches heavy with leather-bound volumes. A gentle smell of old paper and dried lavender hung in the still air. In the centre stood a polished mahogany desk, and upon it lay a single brass key resting on an unopened letter. Arthur took a slow step forward, his heart hammering against his ribs like a trapped bird.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577840"/>
            <a:ext cx="11094415" cy="594360"/>
          </a:xfrm>
          <a:prstGeom prst="roundRect">
            <a:avLst/>
          </a:prstGeom>
          <a:solidFill>
            <a:srgbClr val="0A4EA3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109728" cy="59436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6692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🔍 Task: Read twice. Notice how the author creates atmosphere using sensory details.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3763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8479"/>
                </a:solidFill>
                <a:latin typeface="Arial"/>
              </a:defRPr>
            </a:pPr>
            <a:r>
              <a:t>Slide 12 of 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77240"/>
            <a:ext cx="1280160" cy="292608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E8479"/>
                </a:solidFill>
                <a:latin typeface="Arial"/>
              </a:defRPr>
            </a:pPr>
            <a:r>
              <a:t>I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777240"/>
            <a:ext cx="1280160" cy="292608"/>
          </a:xfrm>
          <a:prstGeom prst="roundRect">
            <a:avLst/>
          </a:prstGeom>
          <a:solidFill>
            <a:srgbClr val="FF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88C00"/>
                </a:solidFill>
                <a:latin typeface="Arial"/>
              </a:defRPr>
            </a:pPr>
            <a:r>
              <a:t>ANNOTATING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Arial"/>
              </a:defRPr>
            </a:pPr>
            <a:r>
              <a:t>Teacher Modelling: Think Aloud 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09728" cy="438912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B301"/>
                </a:solidFill>
              </a:defRPr>
            </a:pPr>
            <a:r>
              <a:t>Text Focus:</a:t>
            </a:r>
          </a:p>
          <a:p>
            <a:pPr>
              <a:spcBef>
                <a:spcPts val="1000"/>
              </a:spcBef>
              <a:defRPr sz="1600" b="1">
                <a:solidFill>
                  <a:srgbClr val="0A4EA3"/>
                </a:solidFill>
              </a:defRPr>
            </a:pPr>
            <a:r>
              <a:t>"...his heart hammering against his ribs like a trapped bird."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37360"/>
            <a:ext cx="5479999" cy="4389120"/>
          </a:xfrm>
          <a:prstGeom prst="roundRect">
            <a:avLst/>
          </a:prstGeom>
          <a:solidFill>
            <a:srgbClr val="0A4EA3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737360"/>
            <a:ext cx="109728" cy="438912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B301"/>
                </a:solidFill>
              </a:defRPr>
            </a:pPr>
            <a:r>
              <a:t>🧠 Teacher's 'Think Aloud':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1. Identify Technique: 'like a trapped bird' is a Simile.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2. Analyze Imagery: A trapped bird flutters frantically.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3. Connect to Meaning: Arthur feels overwhelmed by mystery.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4. Evaluate Atmosphere: The writer creates tension.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3763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8479"/>
                </a:solidFill>
                <a:latin typeface="Arial"/>
              </a:defRPr>
            </a:pPr>
            <a:r>
              <a:t>Slide 13 of 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77240"/>
            <a:ext cx="1188720" cy="292608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E8479"/>
                </a:solidFill>
                <a:latin typeface="Arial"/>
              </a:defRPr>
            </a:pPr>
            <a:r>
              <a:t>WE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777240"/>
            <a:ext cx="1188720" cy="292608"/>
          </a:xfrm>
          <a:prstGeom prst="roundRect">
            <a:avLst/>
          </a:prstGeom>
          <a:solidFill>
            <a:srgbClr val="FF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88C00"/>
                </a:solidFill>
                <a:latin typeface="Arial"/>
              </a:defRPr>
            </a:pPr>
            <a:r>
              <a:t>GUIDED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Arial"/>
              </a:defRPr>
            </a:pPr>
            <a:r>
              <a:t>Guided Reading: Let's Unpack Together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09728" cy="132588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4EA3"/>
                </a:solidFill>
              </a:defRPr>
            </a:pPr>
            <a:r>
              <a:t>Q1: Sensory Language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Which senses does the author appeal to in line 3?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💡 Answer: Smell (old paper, lavender) and Sound (door groaned).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11094415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246120"/>
            <a:ext cx="109728" cy="132588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4EA3"/>
                </a:solidFill>
              </a:defRPr>
            </a:pPr>
            <a:r>
              <a:t>Q2: Figurative Language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What metaphor describes the bookshelves?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💡 Answer: Compared to 'ancient oak trees' with branches heavy with books.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79"/>
            <a:ext cx="11094415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754879"/>
            <a:ext cx="109728" cy="132588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892039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4EA3"/>
                </a:solidFill>
              </a:defRPr>
            </a:pPr>
            <a:r>
              <a:t>Q3: Mystery &amp; Suspense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Which object signals a story is about to begin?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💡 Answer: The brass key resting on the unopened letter.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3763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8479"/>
                </a:solidFill>
                <a:latin typeface="Arial"/>
              </a:defRPr>
            </a:pPr>
            <a:r>
              <a:t>Slide 14 of 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77240"/>
            <a:ext cx="1097280" cy="292608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E8479"/>
                </a:solidFill>
                <a:latin typeface="Arial"/>
              </a:defRPr>
            </a:pPr>
            <a:r>
              <a:t>YOU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Arial"/>
              </a:defRPr>
            </a:pPr>
            <a:r>
              <a:t>Comprehension: Literal vs. Inferential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09728" cy="438912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4EA3"/>
                </a:solidFill>
              </a:defRPr>
            </a:pPr>
            <a:r>
              <a:t>📍 Literal Questions (In the text)</a:t>
            </a:r>
          </a:p>
          <a:p>
            <a:pPr>
              <a:spcBef>
                <a:spcPts val="1400"/>
              </a:spcBef>
              <a:defRPr sz="1200">
                <a:solidFill>
                  <a:srgbClr val="1E1E1E"/>
                </a:solidFill>
              </a:defRPr>
            </a:pPr>
            <a:r>
              <a:t>1. What kind of door did Arthur push open?</a:t>
            </a:r>
            <a:br/>
            <a:r>
              <a:t>   → A heavy wooden door.</a:t>
            </a:r>
          </a:p>
          <a:p>
            <a:pPr>
              <a:spcBef>
                <a:spcPts val="1400"/>
              </a:spcBef>
              <a:defRPr sz="1200">
                <a:solidFill>
                  <a:srgbClr val="1E1E1E"/>
                </a:solidFill>
              </a:defRPr>
            </a:pPr>
            <a:r>
              <a:t>2. What object was on the mahogany desk?</a:t>
            </a:r>
            <a:br/>
            <a:r>
              <a:t>   → A brass key and an unopened letter.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109728" cy="438912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4EA3"/>
                </a:solidFill>
              </a:defRPr>
            </a:pPr>
            <a:r>
              <a:t>🔍 Inferential (Read between lines)</a:t>
            </a:r>
          </a:p>
          <a:p>
            <a:pPr>
              <a:spcBef>
                <a:spcPts val="1400"/>
              </a:spcBef>
              <a:defRPr sz="1200">
                <a:solidFill>
                  <a:srgbClr val="1E1E1E"/>
                </a:solidFill>
              </a:defRPr>
            </a:pPr>
            <a:r>
              <a:t>3. Has anyone been in this library recently?</a:t>
            </a:r>
            <a:br/>
            <a:r>
              <a:t>   → No. Dust motes and still air suggest untouched.</a:t>
            </a:r>
          </a:p>
          <a:p>
            <a:pPr>
              <a:spcBef>
                <a:spcPts val="1400"/>
              </a:spcBef>
              <a:defRPr sz="1200">
                <a:solidFill>
                  <a:srgbClr val="1E1E1E"/>
                </a:solidFill>
              </a:defRPr>
            </a:pPr>
            <a:r>
              <a:t>4. How does Arthur feel about being there?</a:t>
            </a:r>
            <a:br/>
            <a:r>
              <a:t>   → Both awed and terrified (heart hammering).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3763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8479"/>
                </a:solidFill>
                <a:latin typeface="Arial"/>
              </a:defRPr>
            </a:pPr>
            <a:r>
              <a:t>Slide 15 of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Arial"/>
              </a:defRPr>
            </a:pPr>
            <a:r>
              <a:t>Vocabulary Matching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840480" cy="4480560"/>
          </a:xfrm>
          <a:prstGeom prst="roundRect">
            <a:avLst/>
          </a:prstGeom>
          <a:solidFill>
            <a:srgbClr val="0A4EA3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9728" cy="448056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B301"/>
                </a:solidFill>
              </a:defRPr>
            </a:pPr>
            <a:r>
              <a:t>TERMS</a:t>
            </a:r>
          </a:p>
          <a:p>
            <a:pPr>
              <a:spcBef>
                <a:spcPts val="1800"/>
              </a:spcBef>
              <a:defRPr sz="1400" b="1">
                <a:solidFill>
                  <a:srgbClr val="FFFFFF"/>
                </a:solidFill>
              </a:defRPr>
            </a:pPr>
            <a:r>
              <a:t>1. Cavernous</a:t>
            </a:r>
          </a:p>
          <a:p>
            <a:pPr>
              <a:spcBef>
                <a:spcPts val="1800"/>
              </a:spcBef>
              <a:defRPr sz="1400" b="1">
                <a:solidFill>
                  <a:srgbClr val="FFFFFF"/>
                </a:solidFill>
              </a:defRPr>
            </a:pPr>
            <a:r>
              <a:t>2. Vaulted</a:t>
            </a:r>
          </a:p>
          <a:p>
            <a:pPr>
              <a:spcBef>
                <a:spcPts val="1800"/>
              </a:spcBef>
              <a:defRPr sz="1400" b="1">
                <a:solidFill>
                  <a:srgbClr val="FFFFFF"/>
                </a:solidFill>
              </a:defRPr>
            </a:pPr>
            <a:r>
              <a:t>3. Hammering</a:t>
            </a:r>
          </a:p>
          <a:p>
            <a:pPr>
              <a:spcBef>
                <a:spcPts val="1800"/>
              </a:spcBef>
              <a:defRPr sz="1400" b="1">
                <a:solidFill>
                  <a:srgbClr val="FFFFFF"/>
                </a:solidFill>
              </a:defRPr>
            </a:pPr>
            <a:r>
              <a:t>4. Stillness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554480"/>
            <a:ext cx="697961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1554480"/>
            <a:ext cx="109728" cy="448056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73736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4EA3"/>
                </a:solidFill>
              </a:defRPr>
            </a:pPr>
            <a:r>
              <a:t>DEFINITIONS</a:t>
            </a:r>
          </a:p>
          <a:p>
            <a:pPr>
              <a:spcBef>
                <a:spcPts val="1600"/>
              </a:spcBef>
              <a:defRPr sz="1300">
                <a:solidFill>
                  <a:srgbClr val="1E1E1E"/>
                </a:solidFill>
              </a:defRPr>
            </a:pPr>
            <a:r>
              <a:t>A. Beating rapidly and loudly  ➔ [#3]</a:t>
            </a:r>
          </a:p>
          <a:p>
            <a:pPr>
              <a:spcBef>
                <a:spcPts val="1600"/>
              </a:spcBef>
              <a:defRPr sz="1300">
                <a:solidFill>
                  <a:srgbClr val="1E1E1E"/>
                </a:solidFill>
              </a:defRPr>
            </a:pPr>
            <a:r>
              <a:t>B. Vast, huge, dark like a cave  ➔ [#1]</a:t>
            </a:r>
          </a:p>
          <a:p>
            <a:pPr>
              <a:spcBef>
                <a:spcPts val="1600"/>
              </a:spcBef>
              <a:defRPr sz="1300">
                <a:solidFill>
                  <a:srgbClr val="1E1E1E"/>
                </a:solidFill>
              </a:defRPr>
            </a:pPr>
            <a:r>
              <a:t>C. Quiet, calm, undisturbed  ➔ [#4]</a:t>
            </a:r>
          </a:p>
          <a:p>
            <a:pPr>
              <a:spcBef>
                <a:spcPts val="1600"/>
              </a:spcBef>
              <a:defRPr sz="1300">
                <a:solidFill>
                  <a:srgbClr val="1E1E1E"/>
                </a:solidFill>
              </a:defRPr>
            </a:pPr>
            <a:r>
              <a:t>D. High, arched ceilings  ➔ [#2]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3763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8479"/>
                </a:solidFill>
                <a:latin typeface="Arial"/>
              </a:defRPr>
            </a:pPr>
            <a:r>
              <a:t>Slide 16 of 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77240"/>
            <a:ext cx="1463040" cy="292608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E8479"/>
                </a:solidFill>
                <a:latin typeface="Arial"/>
              </a:defRPr>
            </a:pPr>
            <a:r>
              <a:t>COLLABORATIVE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777240"/>
            <a:ext cx="1463040" cy="292608"/>
          </a:xfrm>
          <a:prstGeom prst="roundRect">
            <a:avLst/>
          </a:prstGeom>
          <a:solidFill>
            <a:srgbClr val="FF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88C00"/>
                </a:solidFill>
                <a:latin typeface="Arial"/>
              </a:defRPr>
            </a:pPr>
            <a:r>
              <a:t>6 MINS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Arial"/>
              </a:defRPr>
            </a:pPr>
            <a:r>
              <a:t>Think–Pair–Share: Author's Purpose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66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09728" cy="429768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4EA3"/>
                </a:solidFill>
              </a:defRPr>
            </a:pPr>
            <a:r>
              <a:t>THINK (1 Min)</a:t>
            </a:r>
          </a:p>
          <a:p>
            <a:pPr>
              <a:spcBef>
                <a:spcPts val="1200"/>
              </a:spcBef>
              <a:defRPr sz="1200">
                <a:solidFill>
                  <a:srgbClr val="1E1E1E"/>
                </a:solidFill>
              </a:defRPr>
            </a:pPr>
            <a:r>
              <a:t>Consider: Why did Maya Lin write this passage? What emotion did she want you to feel?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566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109728" cy="4297680"/>
          </a:xfrm>
          <a:prstGeom prst="rect">
            <a:avLst/>
          </a:prstGeom>
          <a:solidFill>
            <a:srgbClr val="1E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8479"/>
                </a:solidFill>
              </a:defRPr>
            </a:pPr>
            <a:r>
              <a:t>PAIR (2 Mins)</a:t>
            </a:r>
          </a:p>
          <a:p>
            <a:pPr>
              <a:spcBef>
                <a:spcPts val="1200"/>
              </a:spcBef>
              <a:defRPr sz="1200">
                <a:solidFill>
                  <a:srgbClr val="1E1E1E"/>
                </a:solidFill>
              </a:defRPr>
            </a:pPr>
            <a:r>
              <a:t>Compare ideas with your partner. Did you pick the same words? Agree on the main purpose.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737360"/>
            <a:ext cx="3566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737360"/>
            <a:ext cx="109728" cy="429768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9202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B301"/>
                </a:solidFill>
              </a:defRPr>
            </a:pPr>
            <a:r>
              <a:t>SHARE (3 Mins)</a:t>
            </a:r>
          </a:p>
          <a:p>
            <a:pPr>
              <a:spcBef>
                <a:spcPts val="1200"/>
              </a:spcBef>
              <a:defRPr sz="1200">
                <a:solidFill>
                  <a:srgbClr val="1E1E1E"/>
                </a:solidFill>
              </a:defRPr>
            </a:pPr>
            <a:r>
              <a:t>Be ready to share your partner's best idea with evidence from the text.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3763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8479"/>
                </a:solidFill>
                <a:latin typeface="Arial"/>
              </a:defRPr>
            </a:pPr>
            <a:r>
              <a:t>Slide 17 of 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77240"/>
            <a:ext cx="1371600" cy="292608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E8479"/>
                </a:solidFill>
                <a:latin typeface="Arial"/>
              </a:defRPr>
            </a:pPr>
            <a:r>
              <a:t>YOU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777240"/>
            <a:ext cx="1371600" cy="292608"/>
          </a:xfrm>
          <a:prstGeom prst="roundRect">
            <a:avLst/>
          </a:prstGeom>
          <a:solidFill>
            <a:srgbClr val="FF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88C00"/>
                </a:solidFill>
                <a:latin typeface="Arial"/>
              </a:defRPr>
            </a:pPr>
            <a:r>
              <a:t>INDIVIDUAL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777240"/>
            <a:ext cx="1371600" cy="292608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DC2626"/>
                </a:solidFill>
                <a:latin typeface="Arial"/>
              </a:defRPr>
            </a:pPr>
            <a:r>
              <a:t>10 MINS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Arial"/>
              </a:defRPr>
            </a:pPr>
            <a:r>
              <a:t>Independent Practice: Written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109441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109728" cy="438912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4EA3"/>
                </a:solidFill>
              </a:defRPr>
            </a:pPr>
            <a:r>
              <a:t>📝 Task: Answer in full sentences in your notebook:</a:t>
            </a:r>
          </a:p>
          <a:p>
            <a:pPr>
              <a:spcBef>
                <a:spcPts val="1000"/>
              </a:spcBef>
              <a:defRPr sz="1600" b="1">
                <a:solidFill>
                  <a:srgbClr val="F5B301"/>
                </a:solidFill>
              </a:defRPr>
            </a:pPr>
            <a:r>
              <a:t>"How does Maya Lin create a sense of mystery and wonder?"</a:t>
            </a:r>
          </a:p>
          <a:p>
            <a:pPr>
              <a:spcBef>
                <a:spcPts val="1400"/>
              </a:spcBef>
              <a:defRPr sz="1200" b="1">
                <a:solidFill>
                  <a:srgbClr val="1E1E1E"/>
                </a:solidFill>
              </a:defRPr>
            </a:pPr>
            <a:r>
              <a:t>Requirements:</a:t>
            </a:r>
          </a:p>
          <a:p>
            <a:pPr>
              <a:spcBef>
                <a:spcPts val="600"/>
              </a:spcBef>
              <a:defRPr sz="1200">
                <a:solidFill>
                  <a:srgbClr val="1E1E1E"/>
                </a:solidFill>
              </a:defRPr>
            </a:pPr>
            <a:r>
              <a:t>✓ Write 3-4 full sentences.</a:t>
            </a:r>
          </a:p>
          <a:p>
            <a:pPr>
              <a:spcBef>
                <a:spcPts val="600"/>
              </a:spcBef>
              <a:defRPr sz="1200">
                <a:solidFill>
                  <a:srgbClr val="1E1E1E"/>
                </a:solidFill>
              </a:defRPr>
            </a:pPr>
            <a:r>
              <a:t>✓ Include ONE direct quotation from the text.</a:t>
            </a:r>
          </a:p>
          <a:p>
            <a:pPr>
              <a:spcBef>
                <a:spcPts val="600"/>
              </a:spcBef>
              <a:defRPr sz="1200">
                <a:solidFill>
                  <a:srgbClr val="1E1E1E"/>
                </a:solidFill>
              </a:defRPr>
            </a:pPr>
            <a:r>
              <a:t>✓ Use key vocabulary (Tone, Imagery, Audience, Atmosphere).</a:t>
            </a:r>
          </a:p>
          <a:p>
            <a:pPr>
              <a:spcBef>
                <a:spcPts val="600"/>
              </a:spcBef>
              <a:defRPr sz="1200">
                <a:solidFill>
                  <a:srgbClr val="1E1E1E"/>
                </a:solidFill>
              </a:defRPr>
            </a:pPr>
            <a:r>
              <a:t>✓ Check capitals, full stops, and spelling.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3763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8479"/>
                </a:solidFill>
                <a:latin typeface="Arial"/>
              </a:defRPr>
            </a:pPr>
            <a:r>
              <a:t>Slide 18 of 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77240"/>
            <a:ext cx="1188720" cy="292608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E8479"/>
                </a:solidFill>
                <a:latin typeface="Arial"/>
              </a:defRPr>
            </a:pPr>
            <a:r>
              <a:t>CREATIVE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777240"/>
            <a:ext cx="1188720" cy="292608"/>
          </a:xfrm>
          <a:prstGeom prst="roundRect">
            <a:avLst/>
          </a:prstGeom>
          <a:solidFill>
            <a:srgbClr val="FF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88C00"/>
                </a:solidFill>
                <a:latin typeface="Arial"/>
              </a:defRPr>
            </a:pPr>
            <a:r>
              <a:t>8 MINS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Arial"/>
              </a:defRPr>
            </a:pPr>
            <a:r>
              <a:t>Creative Writing: Self-Introduction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09728" cy="438912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4EA3"/>
                </a:solidFill>
              </a:defRPr>
            </a:pPr>
            <a:r>
              <a:t>🎨 Task: Introduce Yourself Using Descriptive Language</a:t>
            </a:r>
          </a:p>
          <a:p>
            <a:pPr>
              <a:spcBef>
                <a:spcPts val="1000"/>
              </a:spcBef>
              <a:defRPr sz="1400">
                <a:solidFill>
                  <a:srgbClr val="1E1E1E"/>
                </a:solidFill>
              </a:defRPr>
            </a:pPr>
            <a:r>
              <a:t>Write a 50-word paragraph introducing yourself to the class:</a:t>
            </a:r>
          </a:p>
          <a:p>
            <a:pPr>
              <a:spcBef>
                <a:spcPts val="1000"/>
              </a:spcBef>
              <a:defRPr sz="1300">
                <a:solidFill>
                  <a:srgbClr val="1E1E1E"/>
                </a:solidFill>
              </a:defRPr>
            </a:pPr>
            <a:r>
              <a:t>⭐ Do NOT just list facts (e.g. 'My name is Alex and I like football').</a:t>
            </a:r>
          </a:p>
          <a:p>
            <a:pPr>
              <a:spcBef>
                <a:spcPts val="1000"/>
              </a:spcBef>
              <a:defRPr sz="1300">
                <a:solidFill>
                  <a:srgbClr val="1E1E1E"/>
                </a:solidFill>
              </a:defRPr>
            </a:pPr>
            <a:r>
              <a:t>⭐ Use vivid verbs and sensory descriptions.</a:t>
            </a:r>
          </a:p>
          <a:p>
            <a:pPr>
              <a:spcBef>
                <a:spcPts val="1000"/>
              </a:spcBef>
              <a:defRPr sz="1300">
                <a:solidFill>
                  <a:srgbClr val="1E1E1E"/>
                </a:solidFill>
              </a:defRPr>
            </a:pPr>
            <a:r>
              <a:t>⭐ Include ONE simile or metaphor for your personality.</a:t>
            </a:r>
          </a:p>
          <a:p>
            <a:pPr>
              <a:spcBef>
                <a:spcPts val="1000"/>
              </a:spcBef>
              <a:defRPr sz="1300">
                <a:solidFill>
                  <a:srgbClr val="1E1E1E"/>
                </a:solidFill>
              </a:defRPr>
            </a:pPr>
            <a:r>
              <a:t>⭐ Set an enthusiastic or mysterious TONE.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3763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8479"/>
                </a:solidFill>
                <a:latin typeface="Arial"/>
              </a:defRPr>
            </a:pPr>
            <a:r>
              <a:t>Slide 19 of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Arial"/>
              </a:defRPr>
            </a:pPr>
            <a:r>
              <a:t>Common Pitfalls in Year 7 English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9441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9728" cy="96012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</a:defRPr>
            </a:pPr>
            <a:r>
              <a:t>❌ One-Word Answers  </a:t>
            </a:r>
            <a:r>
              <a:rPr b="0">
                <a:solidFill>
                  <a:srgbClr val="1E1E1E"/>
                </a:solidFill>
              </a:rPr>
              <a:t>Giving 'Yes' or 'It was good'.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✓ Always answer in full sentences with reasons.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1109441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109728" cy="96012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</a:defRPr>
            </a:pPr>
            <a:r>
              <a:t>❌ Floating Quotations  </a:t>
            </a:r>
            <a:r>
              <a:rPr b="0">
                <a:solidFill>
                  <a:srgbClr val="1E1E1E"/>
                </a:solidFill>
              </a:rPr>
              <a:t>Dropping quotes without context.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✓ Weave quotes into sentences.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1109441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109728" cy="96012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</a:defRPr>
            </a:pPr>
            <a:r>
              <a:t>❌ Ignoring Punctuation  </a:t>
            </a:r>
            <a:r>
              <a:rPr b="0">
                <a:solidFill>
                  <a:srgbClr val="1E1E1E"/>
                </a:solidFill>
              </a:rPr>
              <a:t>Run-on sentences without stops.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✓ Read aloud and pause where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83480"/>
            <a:ext cx="1109441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983480"/>
            <a:ext cx="109728" cy="96012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07492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</a:defRPr>
            </a:pPr>
            <a:r>
              <a:t>❌ Confusing Language &amp; Lit  </a:t>
            </a:r>
            <a:r>
              <a:rPr b="0">
                <a:solidFill>
                  <a:srgbClr val="1E1E1E"/>
                </a:solidFill>
              </a:rPr>
              <a:t>Treating stories as just fun tales.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✓ Always ask WHY the author chose words.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3763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8479"/>
                </a:solidFill>
                <a:latin typeface="Arial"/>
              </a:defRPr>
            </a:pPr>
            <a:r>
              <a:t>Slide 20 of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Arial"/>
              </a:defRPr>
            </a:pPr>
            <a:r>
              <a:t>Real-Life Applications of English Skills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9728" cy="201168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📧 Professional Emails</a:t>
            </a:r>
          </a:p>
          <a:p>
            <a:pPr>
              <a:spcBef>
                <a:spcPts val="1000"/>
              </a:spcBef>
              <a:defRPr sz="1300">
                <a:solidFill>
                  <a:srgbClr val="1E1E1E"/>
                </a:solidFill>
              </a:defRPr>
            </a:pPr>
            <a:r>
              <a:t>Writing clear, polite messages to teachers, bosses, organisations.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55448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59" y="1554480"/>
            <a:ext cx="109728" cy="201168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17373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📰 News &amp; Social Media</a:t>
            </a:r>
          </a:p>
          <a:p>
            <a:pPr>
              <a:spcBef>
                <a:spcPts val="1000"/>
              </a:spcBef>
              <a:defRPr sz="1300">
                <a:solidFill>
                  <a:srgbClr val="1E1E1E"/>
                </a:solidFill>
              </a:defRPr>
            </a:pPr>
            <a:r>
              <a:t>Analyzing articles to spot bias and misdirection.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109728" cy="201168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233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🎤 Public Speaking</a:t>
            </a:r>
          </a:p>
          <a:p>
            <a:pPr>
              <a:spcBef>
                <a:spcPts val="1000"/>
              </a:spcBef>
              <a:defRPr sz="1300">
                <a:solidFill>
                  <a:srgbClr val="1E1E1E"/>
                </a:solidFill>
              </a:defRPr>
            </a:pPr>
            <a:r>
              <a:t>Delivering convincing presentations with confidence.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384048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3840480"/>
            <a:ext cx="109728" cy="201168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40233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4EA3"/>
                </a:solidFill>
              </a:defRPr>
            </a:pPr>
            <a:r>
              <a:t>📚 Creative Writing</a:t>
            </a:r>
          </a:p>
          <a:p>
            <a:pPr>
              <a:spcBef>
                <a:spcPts val="1000"/>
              </a:spcBef>
              <a:defRPr sz="1300">
                <a:solidFill>
                  <a:srgbClr val="1E1E1E"/>
                </a:solidFill>
              </a:defRPr>
            </a:pPr>
            <a:r>
              <a:t>Crafting compelling stories and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3763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8479"/>
                </a:solidFill>
                <a:latin typeface="Arial"/>
              </a:defRPr>
            </a:pPr>
            <a:r>
              <a:t>Slide 21 of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Arial"/>
              </a:defRPr>
            </a:pPr>
            <a:r>
              <a:t>Lesson Summary: What Have We Learnt?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9441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9728" cy="96012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4EA3"/>
                </a:solidFill>
              </a:defRPr>
            </a:pPr>
            <a:r>
              <a:t>1. Core Distinction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English Language is mechanics; English Literature is creative expression.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1109441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109728" cy="96012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4EA3"/>
                </a:solidFill>
              </a:defRPr>
            </a:pPr>
            <a:r>
              <a:t>2. Four Pillars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Mastery requires all 4 skills: Reading, Writing, Speaking, Listening.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1109441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109728" cy="96012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7764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4EA3"/>
                </a:solidFill>
              </a:defRPr>
            </a:pPr>
            <a:r>
              <a:t>3. Key Terminology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Author, Audience, Purpose, Genre, and Tone form our toolkit.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83480"/>
            <a:ext cx="1109441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983480"/>
            <a:ext cx="109728" cy="96012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12064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4EA3"/>
                </a:solidFill>
              </a:defRPr>
            </a:pPr>
            <a:r>
              <a:t>4. Text Analysis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Find literal info AND make inferences using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3763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8479"/>
                </a:solidFill>
                <a:latin typeface="Arial"/>
              </a:defRPr>
            </a:pPr>
            <a:r>
              <a:t>Slide 22 of 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77240"/>
            <a:ext cx="1188720" cy="292608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E8479"/>
                </a:solidFill>
                <a:latin typeface="Arial"/>
              </a:defRPr>
            </a:pPr>
            <a:r>
              <a:t>PLENARY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777240"/>
            <a:ext cx="1188720" cy="292608"/>
          </a:xfrm>
          <a:prstGeom prst="roundRect">
            <a:avLst/>
          </a:prstGeom>
          <a:solidFill>
            <a:srgbClr val="FF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C88C00"/>
                </a:solidFill>
                <a:latin typeface="Arial"/>
              </a:defRPr>
            </a:pPr>
            <a:r>
              <a:t>5 MINS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Arial"/>
              </a:defRPr>
            </a:pPr>
            <a:r>
              <a:t>Exit Ticket: 3-2-1 Reflection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66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09728" cy="429768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4EA3"/>
                </a:solidFill>
              </a:defRPr>
            </a:pPr>
            <a:r>
              <a:t>3 KEY TERMS</a:t>
            </a:r>
          </a:p>
          <a:p>
            <a:pPr>
              <a:spcBef>
                <a:spcPts val="1200"/>
              </a:spcBef>
              <a:defRPr sz="1200">
                <a:solidFill>
                  <a:srgbClr val="1E1E1E"/>
                </a:solidFill>
              </a:defRPr>
            </a:pPr>
            <a:r>
              <a:t>Write 3 new vocabulary words and their definitions.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566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109728" cy="4297680"/>
          </a:xfrm>
          <a:prstGeom prst="rect">
            <a:avLst/>
          </a:prstGeom>
          <a:solidFill>
            <a:srgbClr val="1E8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8479"/>
                </a:solidFill>
              </a:defRPr>
            </a:pPr>
            <a:r>
              <a:t>2 SKILLS</a:t>
            </a:r>
          </a:p>
          <a:p>
            <a:pPr>
              <a:spcBef>
                <a:spcPts val="1200"/>
              </a:spcBef>
              <a:defRPr sz="1200">
                <a:solidFill>
                  <a:srgbClr val="1E1E1E"/>
                </a:solidFill>
              </a:defRPr>
            </a:pPr>
            <a:r>
              <a:t>Name 2 language skills you used today.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737360"/>
            <a:ext cx="3566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737360"/>
            <a:ext cx="109728" cy="429768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92024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B301"/>
                </a:solidFill>
              </a:defRPr>
            </a:pPr>
            <a:r>
              <a:t>1 QUESTION</a:t>
            </a:r>
          </a:p>
          <a:p>
            <a:pPr>
              <a:spcBef>
                <a:spcPts val="1200"/>
              </a:spcBef>
              <a:defRPr sz="1200">
                <a:solidFill>
                  <a:srgbClr val="1E1E1E"/>
                </a:solidFill>
              </a:defRPr>
            </a:pPr>
            <a:r>
              <a:t>Write 1 question you still have about KS3 English.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3763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8479"/>
                </a:solidFill>
                <a:latin typeface="Arial"/>
              </a:defRPr>
            </a:pPr>
            <a:r>
              <a:t>Slide 23 of 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77240"/>
            <a:ext cx="1371600" cy="292608"/>
          </a:xfrm>
          <a:prstGeom prst="roundRect">
            <a:avLst/>
          </a:prstGeom>
          <a:solidFill>
            <a:srgbClr val="FF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DC2626"/>
                </a:solidFill>
                <a:latin typeface="Arial"/>
              </a:defRPr>
            </a:pPr>
            <a:r>
              <a:t>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Arial"/>
              </a:defRPr>
            </a:pPr>
            <a:r>
              <a:t>Homework Assignment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9441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09728" cy="4389120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4EA3"/>
                </a:solidFill>
              </a:defRPr>
            </a:pPr>
            <a:r>
              <a:t>📌 Task: Reading &amp; Analysis Log</a:t>
            </a:r>
          </a:p>
          <a:p>
            <a:pPr>
              <a:spcBef>
                <a:spcPts val="1000"/>
              </a:spcBef>
              <a:defRPr sz="1400">
                <a:solidFill>
                  <a:srgbClr val="1E1E1E"/>
                </a:solidFill>
              </a:defRPr>
            </a:pPr>
            <a:r>
              <a:t>Read a short story or article (min 300 words). Record:</a:t>
            </a:r>
          </a:p>
          <a:p>
            <a:pPr>
              <a:spcBef>
                <a:spcPts val="1200"/>
              </a:spcBef>
              <a:defRPr sz="1300" b="1">
                <a:solidFill>
                  <a:srgbClr val="0A4EA3"/>
                </a:solidFill>
              </a:defRPr>
            </a:pPr>
            <a:r>
              <a:t>1. Title and Author of the text.</a:t>
            </a:r>
          </a:p>
          <a:p>
            <a:pPr>
              <a:spcBef>
                <a:spcPts val="1200"/>
              </a:spcBef>
              <a:defRPr sz="1300" b="1">
                <a:solidFill>
                  <a:srgbClr val="0A4EA3"/>
                </a:solidFill>
              </a:defRPr>
            </a:pPr>
            <a:r>
              <a:t>2. Three NEW vocabulary words with definitions.</a:t>
            </a:r>
          </a:p>
          <a:p>
            <a:pPr>
              <a:spcBef>
                <a:spcPts val="1200"/>
              </a:spcBef>
              <a:defRPr sz="1300" b="1">
                <a:solidFill>
                  <a:srgbClr val="0A4EA3"/>
                </a:solidFill>
              </a:defRPr>
            </a:pPr>
            <a:r>
              <a:t>3. A 2-sentence summary of the main idea.</a:t>
            </a:r>
          </a:p>
          <a:p>
            <a:pPr>
              <a:spcBef>
                <a:spcPts val="1200"/>
              </a:spcBef>
              <a:defRPr sz="1300" b="1">
                <a:solidFill>
                  <a:srgbClr val="0A4EA3"/>
                </a:solidFill>
              </a:defRPr>
            </a:pPr>
            <a:r>
              <a:t>4. Your FAVOURITE sentence and why you chose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3763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8479"/>
                </a:solidFill>
                <a:latin typeface="Arial"/>
              </a:defRPr>
            </a:pPr>
            <a:r>
              <a:t>Slide 24 of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4EA3"/>
                </a:solidFill>
                <a:latin typeface="Arial"/>
              </a:defRPr>
            </a:pPr>
            <a:r>
              <a:t>Next Time: Preview of Lesson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94415" cy="4572000"/>
          </a:xfrm>
          <a:prstGeom prst="roundRect">
            <a:avLst/>
          </a:prstGeom>
          <a:solidFill>
            <a:srgbClr val="0A4EA3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9728" cy="4572000"/>
          </a:xfrm>
          <a:prstGeom prst="rect">
            <a:avLst/>
          </a:prstGeom>
          <a:solidFill>
            <a:srgbClr val="0A4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5B301"/>
                </a:solidFill>
              </a:defRPr>
            </a:pPr>
            <a:r>
              <a:t>📖 Lesson 2: Reading Skills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Finding Explicit Information and Making Simple Inferences</a:t>
            </a:r>
          </a:p>
          <a:p>
            <a:pPr>
              <a:spcBef>
                <a:spcPts val="1600"/>
              </a:spcBef>
              <a:defRPr sz="1400" b="1">
                <a:solidFill>
                  <a:srgbClr val="F5B301"/>
                </a:solidFill>
              </a:defRPr>
            </a:pPr>
            <a:r>
              <a:t>What we will explore: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</a:defRPr>
            </a:pPr>
            <a:r>
              <a:t>👉 How to skim and scan texts quickly for key facts.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</a:defRPr>
            </a:pPr>
            <a:r>
              <a:t>👉 How to use text clues to make evidence-based inferences.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</a:defRPr>
            </a:pPr>
            <a:r>
              <a:t>👉 Analyzing non-fiction vs. fictional texts.</a:t>
            </a:r>
          </a:p>
          <a:p>
            <a:pPr>
              <a:spcBef>
                <a:spcPts val="1000"/>
              </a:spcBef>
              <a:defRPr sz="1400">
                <a:solidFill>
                  <a:srgbClr val="E2E8F0"/>
                </a:solidFill>
              </a:defRPr>
            </a:pPr>
            <a:r>
              <a:t>👉 Mastering P.E.E. paragraphs (Point, Evidence, Explanation).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EA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0A4EA3"/>
          </a:solidFill>
          <a:ln w="38100">
            <a:solidFill>
              <a:srgbClr val="F5B3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188720"/>
            <a:ext cx="889985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B301"/>
                </a:solidFill>
              </a:defRPr>
            </a:pPr>
            <a:r>
              <a:t>🎉 EXCELLENT WORK TODAY! 🎉</a:t>
            </a:r>
          </a:p>
          <a:p>
            <a:pPr algn="ctr">
              <a:spcBef>
                <a:spcPts val="1400"/>
              </a:spcBef>
              <a:defRPr sz="1800">
                <a:solidFill>
                  <a:srgbClr val="FFFFFF"/>
                </a:solidFill>
              </a:defRPr>
            </a:pPr>
            <a:r>
              <a:t>You have completed Lesson 1 of Key Stage 3 English.</a:t>
            </a:r>
          </a:p>
          <a:p>
            <a:pPr algn="ctr">
              <a:spcBef>
                <a:spcPts val="2400"/>
              </a:spcBef>
              <a:defRPr sz="1600" i="1">
                <a:solidFill>
                  <a:srgbClr val="E2E8F0"/>
                </a:solidFill>
              </a:defRPr>
            </a:pPr>
            <a:r>
              <a:t>"The more that you read, the more things you will know.</a:t>
            </a:r>
            <a:br/>
            <a:r>
              <a:t>The more that you learn, the more places you'll go."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F5B301"/>
                </a:solidFill>
              </a:defRPr>
            </a:pPr>
            <a:r>
              <a:t>— Dr. Seuss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00800"/>
            <a:ext cx="11094415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BLUESKY EDUCATIONAL CONSULTS | Learning Beyond Borders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